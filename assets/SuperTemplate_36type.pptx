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680000">
            <a:off x="8778240" y="-411480"/>
            <a:ext cx="4480560" cy="4480560"/>
          </a:xfrm>
          <a:prstGeom prst="rect">
            <a:avLst/>
          </a:prstGeom>
          <a:ln w="8890">
            <a:solidFill>
              <a:srgbClr val="C5A681">
                <a:alpha val="7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SUPER TEMPLATE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251460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スーパーテンプレ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76072" y="3703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SlideSpec 36型の見本帳 | 型は発想帳。合わなければ自由記述パーツで組む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 EXECUTIVE_SUMMARY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3017520"/>
            <a:ext cx="3401568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76072" y="3611880"/>
            <a:ext cx="340156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89120" y="3017520"/>
            <a:ext cx="3401568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389120" y="3611880"/>
            <a:ext cx="340156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02168" y="3017520"/>
            <a:ext cx="3401568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02168" y="3611880"/>
            <a:ext cx="340156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 EVIDENCE_BASIS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調査の土台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363724"/>
            <a:ext cx="338328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99432" y="2363724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180+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73952" y="2436876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99432" y="3003804"/>
            <a:ext cx="7016191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3150108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2.4M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73952" y="3223260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99432" y="3790188"/>
            <a:ext cx="7016191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3936492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640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73952" y="4009644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99432" y="4576572"/>
            <a:ext cx="7016191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4722876"/>
            <a:ext cx="17373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73952" y="4796028"/>
            <a:ext cx="5141671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99432" y="5362956"/>
            <a:ext cx="7016191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 BIG_STAT_PAIR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大型数値の対比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93392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6072" y="2761488"/>
            <a:ext cx="5154016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18%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576072" y="4315968"/>
            <a:ext cx="5154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" y="5093208"/>
            <a:ext cx="515401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61608" y="2761488"/>
            <a:ext cx="5154016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6461608" y="4315968"/>
            <a:ext cx="5154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61608" y="5093208"/>
            <a:ext cx="515401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 KPI_DASHBOARD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KPI一覧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880360"/>
            <a:ext cx="2485568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-18%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76072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7400" y="2880360"/>
            <a:ext cx="2485568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7400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7400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days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427400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7400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78728" y="2880360"/>
            <a:ext cx="2485568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8728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78728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6278728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78728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30055" y="2880360"/>
            <a:ext cx="2485568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0055" y="3026664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30055" y="3337560"/>
            <a:ext cx="2485568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$6M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9130055" y="4069080"/>
            <a:ext cx="248556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30055" y="4389120"/>
            <a:ext cx="248556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 CHART_INSIGHT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単一チャート＋含意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注：前提・注記を記載 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12648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99032" y="4442723"/>
            <a:ext cx="566928" cy="1135117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2" name="Text 10"/>
          <p:cNvSpPr/>
          <p:nvPr/>
        </p:nvSpPr>
        <p:spPr>
          <a:xfrm>
            <a:off x="1353312" y="4214123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7043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50592" y="4123471"/>
            <a:ext cx="566928" cy="1454369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5" name="Text 13"/>
          <p:cNvSpPr/>
          <p:nvPr/>
        </p:nvSpPr>
        <p:spPr>
          <a:xfrm>
            <a:off x="2404872" y="3894871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2199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502152" y="3839692"/>
            <a:ext cx="566928" cy="173814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18" name="Text 16"/>
          <p:cNvSpPr/>
          <p:nvPr/>
        </p:nvSpPr>
        <p:spPr>
          <a:xfrm>
            <a:off x="3456432" y="3611092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7355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53712" y="3520440"/>
            <a:ext cx="566928" cy="205740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21" name="Text 19"/>
          <p:cNvSpPr/>
          <p:nvPr/>
        </p:nvSpPr>
        <p:spPr>
          <a:xfrm>
            <a:off x="4507992" y="3291840"/>
            <a:ext cx="65836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25112" y="5669280"/>
            <a:ext cx="1024128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6072" y="5577840"/>
            <a:ext cx="5760720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2057400"/>
            <a:ext cx="0" cy="1417320"/>
          </a:xfrm>
          <a:prstGeom prst="line">
            <a:avLst/>
          </a:prstGeom>
          <a:noFill/>
          <a:ln w="27940">
            <a:solidFill>
              <a:srgbClr val="5A392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2057400"/>
            <a:ext cx="4187952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59168" y="2560320"/>
            <a:ext cx="4187952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 STACKED_BAR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積み上げ棒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4008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04517" y="4642175"/>
            <a:ext cx="1188720" cy="935665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2" name="Text 10"/>
          <p:cNvSpPr/>
          <p:nvPr/>
        </p:nvSpPr>
        <p:spPr>
          <a:xfrm>
            <a:off x="2004517" y="5000279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004517" y="3940426"/>
            <a:ext cx="1188720" cy="701749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4" name="Text 12"/>
          <p:cNvSpPr/>
          <p:nvPr/>
        </p:nvSpPr>
        <p:spPr>
          <a:xfrm>
            <a:off x="2004517" y="418157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04517" y="3472593"/>
            <a:ext cx="1188720" cy="467833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16" name="Text 14"/>
          <p:cNvSpPr/>
          <p:nvPr/>
        </p:nvSpPr>
        <p:spPr>
          <a:xfrm>
            <a:off x="2004517" y="359678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1637" y="5669280"/>
            <a:ext cx="1554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501488" y="4291300"/>
            <a:ext cx="1188720" cy="1286540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9" name="Text 17"/>
          <p:cNvSpPr/>
          <p:nvPr/>
        </p:nvSpPr>
        <p:spPr>
          <a:xfrm>
            <a:off x="5501488" y="482484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01488" y="3542768"/>
            <a:ext cx="1188720" cy="748532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21" name="Text 19"/>
          <p:cNvSpPr/>
          <p:nvPr/>
        </p:nvSpPr>
        <p:spPr>
          <a:xfrm>
            <a:off x="5501488" y="3807306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01488" y="3028153"/>
            <a:ext cx="1188720" cy="514616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23" name="Text 21"/>
          <p:cNvSpPr/>
          <p:nvPr/>
        </p:nvSpPr>
        <p:spPr>
          <a:xfrm>
            <a:off x="5501488" y="317573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18608" y="5669280"/>
            <a:ext cx="1554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98458" y="3893643"/>
            <a:ext cx="1188720" cy="1684197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6" name="Text 24"/>
          <p:cNvSpPr/>
          <p:nvPr/>
        </p:nvSpPr>
        <p:spPr>
          <a:xfrm>
            <a:off x="8998458" y="4626013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98458" y="3121719"/>
            <a:ext cx="1188720" cy="771924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28" name="Text 26"/>
          <p:cNvSpPr/>
          <p:nvPr/>
        </p:nvSpPr>
        <p:spPr>
          <a:xfrm>
            <a:off x="8998458" y="3397953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98458" y="2560320"/>
            <a:ext cx="1188720" cy="561399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30" name="Text 28"/>
          <p:cNvSpPr/>
          <p:nvPr/>
        </p:nvSpPr>
        <p:spPr>
          <a:xfrm>
            <a:off x="8998458" y="2731292"/>
            <a:ext cx="11887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15578" y="5669280"/>
            <a:ext cx="1554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6072" y="5943600"/>
            <a:ext cx="201168" cy="20116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943600"/>
            <a:ext cx="14630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404872" y="5943600"/>
            <a:ext cx="201168" cy="2011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35" name="Text 33"/>
          <p:cNvSpPr/>
          <p:nvPr/>
        </p:nvSpPr>
        <p:spPr>
          <a:xfrm>
            <a:off x="2697480" y="5943600"/>
            <a:ext cx="14630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233672" y="5943600"/>
            <a:ext cx="201168" cy="2011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37" name="Text 35"/>
          <p:cNvSpPr/>
          <p:nvPr/>
        </p:nvSpPr>
        <p:spPr>
          <a:xfrm>
            <a:off x="4526280" y="5943600"/>
            <a:ext cx="146304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 WATERFALL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寄与度ブリッジ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注：前提・注記を記載 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035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" y="4108269"/>
            <a:ext cx="603504" cy="1469571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870525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828800" y="5313317"/>
            <a:ext cx="603504" cy="264523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5" name="Text 13"/>
          <p:cNvSpPr/>
          <p:nvPr/>
        </p:nvSpPr>
        <p:spPr>
          <a:xfrm>
            <a:off x="1755648" y="5075573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+18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64208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2852928" y="5225143"/>
            <a:ext cx="603504" cy="352697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8" name="Text 16"/>
          <p:cNvSpPr/>
          <p:nvPr/>
        </p:nvSpPr>
        <p:spPr>
          <a:xfrm>
            <a:off x="2779776" y="4987399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88336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877056" y="5445579"/>
            <a:ext cx="603504" cy="132261"/>
          </a:xfrm>
          <a:prstGeom prst="rect">
            <a:avLst/>
          </a:prstGeom>
          <a:solidFill>
            <a:srgbClr val="A22727"/>
          </a:solidFill>
          <a:ln/>
        </p:spPr>
      </p:sp>
      <p:sp>
        <p:nvSpPr>
          <p:cNvPr id="21" name="Text 19"/>
          <p:cNvSpPr/>
          <p:nvPr/>
        </p:nvSpPr>
        <p:spPr>
          <a:xfrm>
            <a:off x="3803904" y="5207835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-9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712464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4901184" y="5474970"/>
            <a:ext cx="603504" cy="10287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24" name="Text 22"/>
          <p:cNvSpPr/>
          <p:nvPr/>
        </p:nvSpPr>
        <p:spPr>
          <a:xfrm>
            <a:off x="4828032" y="5237226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36592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925312" y="3520440"/>
            <a:ext cx="603504" cy="2057400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7" name="Text 25"/>
          <p:cNvSpPr/>
          <p:nvPr/>
        </p:nvSpPr>
        <p:spPr>
          <a:xfrm>
            <a:off x="5852160" y="3282696"/>
            <a:ext cx="749808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60720" y="5669280"/>
            <a:ext cx="960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76072" y="5577840"/>
            <a:ext cx="5852160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0" y="1965960"/>
            <a:ext cx="0" cy="1325880"/>
          </a:xfrm>
          <a:prstGeom prst="line">
            <a:avLst/>
          </a:prstGeom>
          <a:noFill/>
          <a:ln w="27940">
            <a:solidFill>
              <a:srgbClr val="5A392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1965960"/>
            <a:ext cx="4096512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059168" y="2468880"/>
            <a:ext cx="4096512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 TRUE_WATERFALL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増減ブリッジ（厳密）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64008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96563" y="3364992"/>
            <a:ext cx="1005840" cy="221284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2" name="Text 10"/>
          <p:cNvSpPr/>
          <p:nvPr/>
        </p:nvSpPr>
        <p:spPr>
          <a:xfrm>
            <a:off x="1213683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22243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94745" y="3364992"/>
            <a:ext cx="1005840" cy="603504"/>
          </a:xfrm>
          <a:prstGeom prst="rect">
            <a:avLst/>
          </a:prstGeom>
          <a:solidFill>
            <a:srgbClr val="A22727"/>
          </a:solidFill>
          <a:ln/>
        </p:spPr>
      </p:sp>
      <p:sp>
        <p:nvSpPr>
          <p:cNvPr id="15" name="Text 13"/>
          <p:cNvSpPr/>
          <p:nvPr/>
        </p:nvSpPr>
        <p:spPr>
          <a:xfrm>
            <a:off x="3311865" y="3108960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20425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92928" y="3163824"/>
            <a:ext cx="1005840" cy="804672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8" name="Text 16"/>
          <p:cNvSpPr/>
          <p:nvPr/>
        </p:nvSpPr>
        <p:spPr>
          <a:xfrm>
            <a:off x="5410048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18608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691110" y="2560320"/>
            <a:ext cx="1005840" cy="603504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21" name="Text 19"/>
          <p:cNvSpPr/>
          <p:nvPr/>
        </p:nvSpPr>
        <p:spPr>
          <a:xfrm>
            <a:off x="7508230" y="2304288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6790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789292" y="2560320"/>
            <a:ext cx="1005840" cy="3017520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4" name="Text 22"/>
          <p:cNvSpPr/>
          <p:nvPr/>
        </p:nvSpPr>
        <p:spPr>
          <a:xfrm>
            <a:off x="9606412" y="2304288"/>
            <a:ext cx="13716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14972" y="5669280"/>
            <a:ext cx="15544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" y="5577840"/>
            <a:ext cx="11039551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 SMALL_MULTIPLES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小図の並列比較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11680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" y="2322576"/>
            <a:ext cx="5291176" cy="0"/>
          </a:xfrm>
          <a:prstGeom prst="line">
            <a:avLst/>
          </a:prstGeom>
          <a:noFill/>
          <a:ln w="9525">
            <a:solidFill>
              <a:srgbClr val="E2DC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29335" y="3226728"/>
            <a:ext cx="457200" cy="39886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93060" y="2927578"/>
            <a:ext cx="457200" cy="69801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5" name="Text 13"/>
          <p:cNvSpPr/>
          <p:nvPr/>
        </p:nvSpPr>
        <p:spPr>
          <a:xfrm>
            <a:off x="2339797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6785" y="2468880"/>
            <a:ext cx="457200" cy="1156716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7" name="Text 15"/>
          <p:cNvSpPr/>
          <p:nvPr/>
        </p:nvSpPr>
        <p:spPr>
          <a:xfrm>
            <a:off x="4103522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24448" y="2011680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4448" y="2322576"/>
            <a:ext cx="5291176" cy="0"/>
          </a:xfrm>
          <a:prstGeom prst="line">
            <a:avLst/>
          </a:prstGeom>
          <a:noFill/>
          <a:ln w="9525">
            <a:solidFill>
              <a:srgbClr val="E2DC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77710" y="3326445"/>
            <a:ext cx="457200" cy="299151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4448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741435" y="3067181"/>
            <a:ext cx="457200" cy="558415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3" name="Text 21"/>
          <p:cNvSpPr/>
          <p:nvPr/>
        </p:nvSpPr>
        <p:spPr>
          <a:xfrm>
            <a:off x="8088173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505161" y="2748087"/>
            <a:ext cx="457200" cy="877509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5" name="Text 23"/>
          <p:cNvSpPr/>
          <p:nvPr/>
        </p:nvSpPr>
        <p:spPr>
          <a:xfrm>
            <a:off x="9851898" y="3643884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76072" y="4338828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6072" y="4649724"/>
            <a:ext cx="5291176" cy="0"/>
          </a:xfrm>
          <a:prstGeom prst="line">
            <a:avLst/>
          </a:prstGeom>
          <a:noFill/>
          <a:ln w="9525">
            <a:solidFill>
              <a:srgbClr val="E2DC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29335" y="5793197"/>
            <a:ext cx="457200" cy="159547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9" name="Text 27"/>
          <p:cNvSpPr/>
          <p:nvPr/>
        </p:nvSpPr>
        <p:spPr>
          <a:xfrm>
            <a:off x="576072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993060" y="5673537"/>
            <a:ext cx="457200" cy="279207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31" name="Text 29"/>
          <p:cNvSpPr/>
          <p:nvPr/>
        </p:nvSpPr>
        <p:spPr>
          <a:xfrm>
            <a:off x="2339797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6785" y="5494046"/>
            <a:ext cx="457200" cy="45869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33" name="Text 31"/>
          <p:cNvSpPr/>
          <p:nvPr/>
        </p:nvSpPr>
        <p:spPr>
          <a:xfrm>
            <a:off x="4103522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24448" y="4338828"/>
            <a:ext cx="52911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24448" y="4649724"/>
            <a:ext cx="5291176" cy="0"/>
          </a:xfrm>
          <a:prstGeom prst="line">
            <a:avLst/>
          </a:prstGeom>
          <a:noFill/>
          <a:ln w="9525">
            <a:solidFill>
              <a:srgbClr val="E2DC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77710" y="5713423"/>
            <a:ext cx="457200" cy="239321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37" name="Text 35"/>
          <p:cNvSpPr/>
          <p:nvPr/>
        </p:nvSpPr>
        <p:spPr>
          <a:xfrm>
            <a:off x="6324448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ラベル14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741435" y="5513990"/>
            <a:ext cx="457200" cy="438754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39" name="Text 37"/>
          <p:cNvSpPr/>
          <p:nvPr/>
        </p:nvSpPr>
        <p:spPr>
          <a:xfrm>
            <a:off x="8088173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505161" y="5214839"/>
            <a:ext cx="457200" cy="737905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41" name="Text 39"/>
          <p:cNvSpPr/>
          <p:nvPr/>
        </p:nvSpPr>
        <p:spPr>
          <a:xfrm>
            <a:off x="9851898" y="5971032"/>
            <a:ext cx="1763725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 COMPARISON_TABLE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選択肢の比較表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2029968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450799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評価軸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競合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含意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 SCENARIO_TABLE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シナリオ比較表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注：前提・注記を記載 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2029968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3931920"/>
                <a:gridCol w="38679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シナリオ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経営への含意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A392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前提1-1：TextをTextと置く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前提1-2：Textは変わらないとする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1をText 2まで積み増す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3の判断をN月に前倒す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A392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前提2-1：TextをTextと置く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前提2-2：Textは変わらないとする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4をText 5まで積み増す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6の判断をN月に前倒す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A392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前提3-1：TextをTextと置く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前提3-2：Textは変わらないとする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7をText 8まで積み増す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9の判断をN月に前倒す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 RISK_TABLE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リスク一覧表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2029968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560320"/>
                <a:gridCol w="4572000"/>
                <a:gridCol w="11247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兆候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担当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3220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1がNを下回る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2のNがNか月続く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3を先に確保する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4の代替案を用意する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5がNを下回る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6のNがNか月続く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7を先に確保する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8の代替案を用意する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9がNを下回る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10のNがNか月続く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11を先に確保する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l" marL="127000" indent="-127000">
                        <a:buSzPct val="100000"/>
                        <a:buChar char="•"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12の代替案を用意する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2201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ラベル3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0" marR="76200" marT="63500" marB="1143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 HORIZONTAL_AXIS_TABLE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横軸評価表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75688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網掛けの行＝Text 1（この行だけ立てている理由を1行で）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" y="2404872"/>
            <a:ext cx="11039551" cy="0"/>
          </a:xfrm>
          <a:prstGeom prst="line">
            <a:avLst/>
          </a:prstGeom>
          <a:noFill/>
          <a:ln w="7620">
            <a:solidFill>
              <a:srgbClr val="8A7B6B"/>
            </a:solidFill>
            <a:prstDash val="sysDot"/>
          </a:ln>
        </p:spPr>
      </p:sp>
      <p:sp>
        <p:nvSpPr>
          <p:cNvPr id="12" name="Text 10"/>
          <p:cNvSpPr/>
          <p:nvPr/>
        </p:nvSpPr>
        <p:spPr>
          <a:xfrm>
            <a:off x="576072" y="2578608"/>
            <a:ext cx="13048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6072" y="2926080"/>
            <a:ext cx="1304814" cy="0"/>
          </a:xfrm>
          <a:prstGeom prst="line">
            <a:avLst/>
          </a:prstGeom>
          <a:noFill/>
          <a:ln w="20320">
            <a:solidFill>
              <a:srgbClr val="3220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63766" y="2578608"/>
            <a:ext cx="274011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063766" y="2926080"/>
            <a:ext cx="2740110" cy="0"/>
          </a:xfrm>
          <a:prstGeom prst="line">
            <a:avLst/>
          </a:prstGeom>
          <a:noFill/>
          <a:ln w="20320">
            <a:solidFill>
              <a:srgbClr val="32201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6756" y="2578608"/>
            <a:ext cx="3001072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86756" y="2926080"/>
            <a:ext cx="3001072" cy="0"/>
          </a:xfrm>
          <a:prstGeom prst="line">
            <a:avLst/>
          </a:prstGeom>
          <a:noFill/>
          <a:ln w="20320">
            <a:solidFill>
              <a:srgbClr val="3220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0708" y="2578608"/>
            <a:ext cx="1565777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70708" y="2926080"/>
            <a:ext cx="1565777" cy="0"/>
          </a:xfrm>
          <a:prstGeom prst="line">
            <a:avLst/>
          </a:prstGeom>
          <a:noFill/>
          <a:ln w="20320">
            <a:solidFill>
              <a:srgbClr val="32201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19365" y="2578608"/>
            <a:ext cx="1696258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列見出し5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919365" y="2926080"/>
            <a:ext cx="1696258" cy="0"/>
          </a:xfrm>
          <a:prstGeom prst="line">
            <a:avLst/>
          </a:prstGeom>
          <a:noFill/>
          <a:ln w="20320">
            <a:solidFill>
              <a:srgbClr val="32201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044952"/>
            <a:ext cx="11130991" cy="832104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23" name="Text 21"/>
          <p:cNvSpPr/>
          <p:nvPr/>
        </p:nvSpPr>
        <p:spPr>
          <a:xfrm>
            <a:off x="576072" y="3118104"/>
            <a:ext cx="130481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63766" y="3118104"/>
            <a:ext cx="2740110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986756" y="3118104"/>
            <a:ext cx="3001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170708" y="3118104"/>
            <a:ext cx="1565777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919365" y="3118104"/>
            <a:ext cx="1696258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76072" y="3913632"/>
            <a:ext cx="11039551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576072" y="3986784"/>
            <a:ext cx="130481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63766" y="3986784"/>
            <a:ext cx="2740110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6756" y="3986784"/>
            <a:ext cx="3001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170708" y="3986784"/>
            <a:ext cx="1565777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919365" y="3986784"/>
            <a:ext cx="1696258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76072" y="4782312"/>
            <a:ext cx="11039551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576072" y="4855464"/>
            <a:ext cx="1304814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063766" y="4855464"/>
            <a:ext cx="2740110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986756" y="4855464"/>
            <a:ext cx="3001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170708" y="4855464"/>
            <a:ext cx="1565777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919365" y="4855464"/>
            <a:ext cx="1696258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76072" y="5650992"/>
            <a:ext cx="11039551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 HEATMAP_TABLE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ヒートマップ表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行の軸名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953512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53512" y="2340864"/>
            <a:ext cx="2092376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19040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19040" y="2340864"/>
            <a:ext cx="2092376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84568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84568" y="2340864"/>
            <a:ext cx="2092376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0095" y="2011680"/>
            <a:ext cx="209237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450095" y="2340864"/>
            <a:ext cx="2092376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66090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53512" y="2514600"/>
            <a:ext cx="2092376" cy="6583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21" name="Text 19"/>
          <p:cNvSpPr/>
          <p:nvPr/>
        </p:nvSpPr>
        <p:spPr>
          <a:xfrm>
            <a:off x="2953512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119040" y="2514600"/>
            <a:ext cx="2092376" cy="6583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23" name="Text 21"/>
          <p:cNvSpPr/>
          <p:nvPr/>
        </p:nvSpPr>
        <p:spPr>
          <a:xfrm>
            <a:off x="5119040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84568" y="2514600"/>
            <a:ext cx="2092376" cy="6583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25" name="Text 23"/>
          <p:cNvSpPr/>
          <p:nvPr/>
        </p:nvSpPr>
        <p:spPr>
          <a:xfrm>
            <a:off x="7284568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450095" y="2514600"/>
            <a:ext cx="2092376" cy="6583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27" name="Text 25"/>
          <p:cNvSpPr/>
          <p:nvPr/>
        </p:nvSpPr>
        <p:spPr>
          <a:xfrm>
            <a:off x="9450095" y="251460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76072" y="339242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行見出し2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53512" y="3246120"/>
            <a:ext cx="2092376" cy="6583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30" name="Text 28"/>
          <p:cNvSpPr/>
          <p:nvPr/>
        </p:nvSpPr>
        <p:spPr>
          <a:xfrm>
            <a:off x="2953512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119040" y="3246120"/>
            <a:ext cx="2092376" cy="6583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32" name="Text 30"/>
          <p:cNvSpPr/>
          <p:nvPr/>
        </p:nvSpPr>
        <p:spPr>
          <a:xfrm>
            <a:off x="5119040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284568" y="3246120"/>
            <a:ext cx="2092376" cy="658368"/>
          </a:xfrm>
          <a:prstGeom prst="rect">
            <a:avLst/>
          </a:prstGeom>
          <a:ln w="6350">
            <a:solidFill>
              <a:srgbClr val="E2DCD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84568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450095" y="3246120"/>
            <a:ext cx="2092376" cy="6583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36" name="Text 34"/>
          <p:cNvSpPr/>
          <p:nvPr/>
        </p:nvSpPr>
        <p:spPr>
          <a:xfrm>
            <a:off x="9450095" y="324612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760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行見出し3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953512" y="3977640"/>
            <a:ext cx="2092376" cy="6583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39" name="Text 37"/>
          <p:cNvSpPr/>
          <p:nvPr/>
        </p:nvSpPr>
        <p:spPr>
          <a:xfrm>
            <a:off x="2953512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119040" y="3977640"/>
            <a:ext cx="2092376" cy="6583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41" name="Text 39"/>
          <p:cNvSpPr/>
          <p:nvPr/>
        </p:nvSpPr>
        <p:spPr>
          <a:xfrm>
            <a:off x="5119040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284568" y="3977640"/>
            <a:ext cx="2092376" cy="6583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43" name="Text 41"/>
          <p:cNvSpPr/>
          <p:nvPr/>
        </p:nvSpPr>
        <p:spPr>
          <a:xfrm>
            <a:off x="7284568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450095" y="3977640"/>
            <a:ext cx="2092376" cy="6583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45" name="Text 43"/>
          <p:cNvSpPr/>
          <p:nvPr/>
        </p:nvSpPr>
        <p:spPr>
          <a:xfrm>
            <a:off x="9450095" y="397764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76072" y="4855464"/>
            <a:ext cx="22860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行見出し4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953512" y="4709160"/>
            <a:ext cx="2092376" cy="6583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48" name="Text 46"/>
          <p:cNvSpPr/>
          <p:nvPr/>
        </p:nvSpPr>
        <p:spPr>
          <a:xfrm>
            <a:off x="2953512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119040" y="4709160"/>
            <a:ext cx="2092376" cy="6583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50" name="Text 48"/>
          <p:cNvSpPr/>
          <p:nvPr/>
        </p:nvSpPr>
        <p:spPr>
          <a:xfrm>
            <a:off x="5119040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7284568" y="4709160"/>
            <a:ext cx="2092376" cy="658368"/>
          </a:xfrm>
          <a:prstGeom prst="rect">
            <a:avLst/>
          </a:prstGeom>
          <a:ln w="6350">
            <a:solidFill>
              <a:srgbClr val="E2DCD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284568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9450095" y="4709160"/>
            <a:ext cx="2092376" cy="6583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54" name="Text 52"/>
          <p:cNvSpPr/>
          <p:nvPr/>
        </p:nvSpPr>
        <p:spPr>
          <a:xfrm>
            <a:off x="9450095" y="4709160"/>
            <a:ext cx="2092376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76072" y="5577840"/>
            <a:ext cx="201168" cy="201168"/>
          </a:xfrm>
          <a:prstGeom prst="rect">
            <a:avLst/>
          </a:prstGeom>
          <a:ln w="6350">
            <a:solidFill>
              <a:srgbClr val="E2DCD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6868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496312" y="5577840"/>
            <a:ext cx="201168" cy="2011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58" name="Text 56"/>
          <p:cNvSpPr/>
          <p:nvPr/>
        </p:nvSpPr>
        <p:spPr>
          <a:xfrm>
            <a:off x="278892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416552" y="5577840"/>
            <a:ext cx="201168" cy="2011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60" name="Text 58"/>
          <p:cNvSpPr/>
          <p:nvPr/>
        </p:nvSpPr>
        <p:spPr>
          <a:xfrm>
            <a:off x="470916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336792" y="5577840"/>
            <a:ext cx="201168" cy="2011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62" name="Text 60"/>
          <p:cNvSpPr/>
          <p:nvPr/>
        </p:nvSpPr>
        <p:spPr>
          <a:xfrm>
            <a:off x="6629400" y="5577840"/>
            <a:ext cx="15544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 MATRIX_2X2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2×2マトリクス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5678424"/>
            <a:ext cx="6217920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" y="2066544"/>
            <a:ext cx="0" cy="361188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85032" y="2066544"/>
            <a:ext cx="0" cy="361188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6072" y="3872484"/>
            <a:ext cx="6217920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792224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縦軸名（上ほど高い）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67912" y="5733288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横軸名（右ほど高い）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22622" y="2768803"/>
            <a:ext cx="1060704" cy="329184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7" name="Text 15"/>
          <p:cNvSpPr/>
          <p:nvPr/>
        </p:nvSpPr>
        <p:spPr>
          <a:xfrm>
            <a:off x="4568342" y="2814523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施策1</a:t>
            </a:r>
            <a:endParaRPr lang="en-US" sz="770" dirty="0"/>
          </a:p>
        </p:txBody>
      </p:sp>
      <p:sp>
        <p:nvSpPr>
          <p:cNvPr id="18" name="Shape 16"/>
          <p:cNvSpPr/>
          <p:nvPr/>
        </p:nvSpPr>
        <p:spPr>
          <a:xfrm>
            <a:off x="4273906" y="3418942"/>
            <a:ext cx="1060704" cy="329184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626" y="3464662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施策2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2221992" y="3021635"/>
            <a:ext cx="1060704" cy="329184"/>
          </a:xfrm>
          <a:prstGeom prst="rect">
            <a:avLst/>
          </a:prstGeom>
          <a:ln w="7620">
            <a:solidFill>
              <a:srgbClr val="5A392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67712" y="3067355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施策3</a:t>
            </a:r>
            <a:endParaRPr lang="en-US" sz="770" dirty="0"/>
          </a:p>
        </p:txBody>
      </p:sp>
      <p:sp>
        <p:nvSpPr>
          <p:cNvPr id="22" name="Shape 20"/>
          <p:cNvSpPr/>
          <p:nvPr/>
        </p:nvSpPr>
        <p:spPr>
          <a:xfrm>
            <a:off x="2905963" y="4141318"/>
            <a:ext cx="1060704" cy="329184"/>
          </a:xfrm>
          <a:prstGeom prst="rect">
            <a:avLst/>
          </a:prstGeom>
          <a:ln w="7620">
            <a:solidFill>
              <a:srgbClr val="5A392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51683" y="4187038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施策4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1475842" y="4574743"/>
            <a:ext cx="1060704" cy="329184"/>
          </a:xfrm>
          <a:prstGeom prst="rect">
            <a:avLst/>
          </a:prstGeom>
          <a:ln w="7620">
            <a:solidFill>
              <a:srgbClr val="5A392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21562" y="4620463"/>
            <a:ext cx="96926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77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施策5</a:t>
            </a:r>
            <a:endParaRPr lang="en-US" sz="770" dirty="0"/>
          </a:p>
        </p:txBody>
      </p:sp>
      <p:sp>
        <p:nvSpPr>
          <p:cNvPr id="26" name="Text 24"/>
          <p:cNvSpPr/>
          <p:nvPr/>
        </p:nvSpPr>
        <p:spPr>
          <a:xfrm>
            <a:off x="7315200" y="2130552"/>
            <a:ext cx="402336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52360" y="2907792"/>
            <a:ext cx="36576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452360" y="3410712"/>
            <a:ext cx="36576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 PROCESS_MATRIX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プロセス×観点の行列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80260"/>
            <a:ext cx="21945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行の軸名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70632" y="2080260"/>
            <a:ext cx="28203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70632" y="2409444"/>
            <a:ext cx="2820314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8962" y="2080260"/>
            <a:ext cx="28203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18962" y="2409444"/>
            <a:ext cx="2820314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7293" y="2080260"/>
            <a:ext cx="2820314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67293" y="2409444"/>
            <a:ext cx="2820314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2766060"/>
            <a:ext cx="21031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70632" y="2583180"/>
            <a:ext cx="2820314" cy="8869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19" name="Text 17"/>
          <p:cNvSpPr/>
          <p:nvPr/>
        </p:nvSpPr>
        <p:spPr>
          <a:xfrm>
            <a:off x="2935224" y="272948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718962" y="2583180"/>
            <a:ext cx="2820314" cy="8869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21" name="Text 19"/>
          <p:cNvSpPr/>
          <p:nvPr/>
        </p:nvSpPr>
        <p:spPr>
          <a:xfrm>
            <a:off x="5883554" y="272948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76072" y="3817620"/>
            <a:ext cx="21031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0632" y="3634740"/>
            <a:ext cx="2820314" cy="8869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24" name="Text 22"/>
          <p:cNvSpPr/>
          <p:nvPr/>
        </p:nvSpPr>
        <p:spPr>
          <a:xfrm>
            <a:off x="2935224" y="378104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718962" y="3634740"/>
            <a:ext cx="2820314" cy="8869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26" name="Text 24"/>
          <p:cNvSpPr/>
          <p:nvPr/>
        </p:nvSpPr>
        <p:spPr>
          <a:xfrm>
            <a:off x="5883554" y="378104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76072" y="4869180"/>
            <a:ext cx="210312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行見出し3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70632" y="4686300"/>
            <a:ext cx="2820314" cy="8869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29" name="Text 27"/>
          <p:cNvSpPr/>
          <p:nvPr/>
        </p:nvSpPr>
        <p:spPr>
          <a:xfrm>
            <a:off x="2935224" y="483260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718962" y="4686300"/>
            <a:ext cx="2820314" cy="8869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31" name="Text 29"/>
          <p:cNvSpPr/>
          <p:nvPr/>
        </p:nvSpPr>
        <p:spPr>
          <a:xfrm>
            <a:off x="5883554" y="483260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667293" y="4686300"/>
            <a:ext cx="2820314" cy="886968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33" name="Text 31"/>
          <p:cNvSpPr/>
          <p:nvPr/>
        </p:nvSpPr>
        <p:spPr>
          <a:xfrm>
            <a:off x="8831885" y="4832604"/>
            <a:ext cx="249113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 NESTED_ROW_MATRIX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入れ子行の行列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47088"/>
            <a:ext cx="21031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大分類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679192" y="1847088"/>
            <a:ext cx="23774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小分類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39512" y="1847088"/>
            <a:ext cx="637611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76072" y="2176272"/>
            <a:ext cx="11039551" cy="0"/>
          </a:xfrm>
          <a:prstGeom prst="line">
            <a:avLst/>
          </a:prstGeom>
          <a:noFill/>
          <a:ln w="15240">
            <a:solidFill>
              <a:srgbClr val="32201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" y="2286000"/>
            <a:ext cx="0" cy="2236622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286000"/>
            <a:ext cx="1883664" cy="223662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679192" y="2304288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39512" y="2322576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50" dirty="0"/>
          </a:p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679192" y="3019349"/>
            <a:ext cx="8936431" cy="0"/>
          </a:xfrm>
          <a:prstGeom prst="line">
            <a:avLst/>
          </a:prstGeom>
          <a:noFill/>
          <a:ln w="7620">
            <a:solidFill>
              <a:srgbClr val="E2DC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9192" y="3092501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39512" y="3110789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50" dirty="0"/>
          </a:p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679192" y="3807562"/>
            <a:ext cx="8936431" cy="0"/>
          </a:xfrm>
          <a:prstGeom prst="line">
            <a:avLst/>
          </a:prstGeom>
          <a:noFill/>
          <a:ln w="7620">
            <a:solidFill>
              <a:srgbClr val="E2DC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79192" y="3880714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39512" y="3899002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150" dirty="0"/>
          </a:p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76072" y="4650638"/>
            <a:ext cx="0" cy="144841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" y="4650638"/>
            <a:ext cx="1883664" cy="144841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76072" y="4595774"/>
            <a:ext cx="11039551" cy="0"/>
          </a:xfrm>
          <a:prstGeom prst="line">
            <a:avLst/>
          </a:prstGeom>
          <a:noFill/>
          <a:ln w="11430">
            <a:solidFill>
              <a:srgbClr val="8A7B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79192" y="4668926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39512" y="4687214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679192" y="5383987"/>
            <a:ext cx="8936431" cy="0"/>
          </a:xfrm>
          <a:prstGeom prst="line">
            <a:avLst/>
          </a:prstGeom>
          <a:noFill/>
          <a:ln w="7620">
            <a:solidFill>
              <a:srgbClr val="E2DCD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79192" y="5457139"/>
            <a:ext cx="2194560" cy="64190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39512" y="5475427"/>
            <a:ext cx="6376111" cy="5687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 TIMELINE_MATRIX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時系列マトリクス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" y="2587752"/>
            <a:ext cx="1645920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04872" y="2258568"/>
            <a:ext cx="28873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04872" y="2587752"/>
            <a:ext cx="2887370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75122" y="2258568"/>
            <a:ext cx="28873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75122" y="2587752"/>
            <a:ext cx="2887370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5373" y="2258568"/>
            <a:ext cx="28873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列見出し3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545373" y="2587752"/>
            <a:ext cx="2887370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871216"/>
            <a:ext cx="16459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04872" y="28712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75122" y="28712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5373" y="28712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3639312"/>
            <a:ext cx="11039551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76072" y="3785616"/>
            <a:ext cx="16459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404872" y="37856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75122" y="37856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545373" y="37856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6072" y="4553712"/>
            <a:ext cx="11039551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76072" y="4700016"/>
            <a:ext cx="16459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404872" y="47000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75122" y="47000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45373" y="4700016"/>
            <a:ext cx="288737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6072" y="5468112"/>
            <a:ext cx="11039551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 THEME_CARD_GRID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テーマカード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01952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" y="2487168"/>
            <a:ext cx="2554148" cy="27432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6072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76072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3.4x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3267380" y="2487168"/>
            <a:ext cx="0" cy="3200400"/>
          </a:xfrm>
          <a:prstGeom prst="line">
            <a:avLst/>
          </a:prstGeom>
          <a:noFill/>
          <a:ln w="12700">
            <a:solidFill>
              <a:srgbClr val="E2DCD2"/>
            </a:solidFill>
            <a:prstDash val="dot"/>
          </a:ln>
        </p:spPr>
      </p:sp>
      <p:sp>
        <p:nvSpPr>
          <p:cNvPr id="17" name="Shape 15"/>
          <p:cNvSpPr/>
          <p:nvPr/>
        </p:nvSpPr>
        <p:spPr>
          <a:xfrm>
            <a:off x="3404540" y="2487168"/>
            <a:ext cx="2554148" cy="27432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8" name="Text 16"/>
          <p:cNvSpPr/>
          <p:nvPr/>
        </p:nvSpPr>
        <p:spPr>
          <a:xfrm>
            <a:off x="3477692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04540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04540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04540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+22%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6095848" y="2487168"/>
            <a:ext cx="0" cy="3200400"/>
          </a:xfrm>
          <a:prstGeom prst="line">
            <a:avLst/>
          </a:prstGeom>
          <a:noFill/>
          <a:ln w="12700">
            <a:solidFill>
              <a:srgbClr val="E2DCD2"/>
            </a:solidFill>
            <a:prstDash val="dot"/>
          </a:ln>
        </p:spPr>
      </p:sp>
      <p:sp>
        <p:nvSpPr>
          <p:cNvPr id="23" name="Shape 21"/>
          <p:cNvSpPr/>
          <p:nvPr/>
        </p:nvSpPr>
        <p:spPr>
          <a:xfrm>
            <a:off x="6233008" y="2487168"/>
            <a:ext cx="2554148" cy="27432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24" name="Text 22"/>
          <p:cNvSpPr/>
          <p:nvPr/>
        </p:nvSpPr>
        <p:spPr>
          <a:xfrm>
            <a:off x="6306160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33008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33008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33008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-41%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8924315" y="2487168"/>
            <a:ext cx="0" cy="3200400"/>
          </a:xfrm>
          <a:prstGeom prst="line">
            <a:avLst/>
          </a:prstGeom>
          <a:noFill/>
          <a:ln w="12700">
            <a:solidFill>
              <a:srgbClr val="E2DCD2"/>
            </a:solidFill>
            <a:prstDash val="dot"/>
          </a:ln>
        </p:spPr>
      </p:sp>
      <p:sp>
        <p:nvSpPr>
          <p:cNvPr id="29" name="Shape 27"/>
          <p:cNvSpPr/>
          <p:nvPr/>
        </p:nvSpPr>
        <p:spPr>
          <a:xfrm>
            <a:off x="9061475" y="2487168"/>
            <a:ext cx="2554148" cy="27432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627" y="2514600"/>
            <a:ext cx="2407844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061475" y="2944368"/>
            <a:ext cx="2554148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61475" y="3511296"/>
            <a:ext cx="2554148" cy="1737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061475" y="5276088"/>
            <a:ext cx="2554148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92%</a:t>
            </a:r>
            <a:endParaRPr lang="en-US" sz="2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 RECOMMENDATION_PILLARS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提言の柱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103120"/>
            <a:ext cx="3375050" cy="0"/>
          </a:xfrm>
          <a:prstGeom prst="line">
            <a:avLst/>
          </a:prstGeom>
          <a:noFill/>
          <a:ln w="31750">
            <a:solidFill>
              <a:srgbClr val="5A392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" y="2267712"/>
            <a:ext cx="457200" cy="457200"/>
          </a:xfrm>
          <a:prstGeom prst="ellipse">
            <a:avLst/>
          </a:prstGeom>
          <a:solidFill>
            <a:srgbClr val="5A3921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6072" y="2871216"/>
            <a:ext cx="337505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76072" y="3383280"/>
            <a:ext cx="337505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6072" y="4023360"/>
            <a:ext cx="337505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8322" y="2103120"/>
            <a:ext cx="3375050" cy="0"/>
          </a:xfrm>
          <a:prstGeom prst="line">
            <a:avLst/>
          </a:prstGeom>
          <a:noFill/>
          <a:ln w="31750">
            <a:solidFill>
              <a:srgbClr val="5A392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08322" y="2267712"/>
            <a:ext cx="457200" cy="457200"/>
          </a:xfrm>
          <a:prstGeom prst="ellipse">
            <a:avLst/>
          </a:prstGeom>
          <a:solidFill>
            <a:srgbClr val="5A3921"/>
          </a:solidFill>
          <a:ln/>
        </p:spPr>
      </p:sp>
      <p:sp>
        <p:nvSpPr>
          <p:cNvPr id="18" name="Text 16"/>
          <p:cNvSpPr/>
          <p:nvPr/>
        </p:nvSpPr>
        <p:spPr>
          <a:xfrm>
            <a:off x="4408322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08322" y="2871216"/>
            <a:ext cx="337505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08322" y="3383280"/>
            <a:ext cx="337505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08322" y="4023360"/>
            <a:ext cx="337505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40573" y="2103120"/>
            <a:ext cx="3375050" cy="0"/>
          </a:xfrm>
          <a:prstGeom prst="line">
            <a:avLst/>
          </a:prstGeom>
          <a:noFill/>
          <a:ln w="31750">
            <a:solidFill>
              <a:srgbClr val="5A392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40573" y="2267712"/>
            <a:ext cx="457200" cy="457200"/>
          </a:xfrm>
          <a:prstGeom prst="ellipse">
            <a:avLst/>
          </a:prstGeom>
          <a:solidFill>
            <a:srgbClr val="5A3921"/>
          </a:solidFill>
          <a:ln/>
        </p:spPr>
      </p:sp>
      <p:sp>
        <p:nvSpPr>
          <p:cNvPr id="24" name="Text 22"/>
          <p:cNvSpPr/>
          <p:nvPr/>
        </p:nvSpPr>
        <p:spPr>
          <a:xfrm>
            <a:off x="8240573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40573" y="2871216"/>
            <a:ext cx="337505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240573" y="3383280"/>
            <a:ext cx="337505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40573" y="4023360"/>
            <a:ext cx="337505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9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 NUMBERED_IMPERATIVES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番号つき打ち手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33372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指標名、単位、YYYY〜YYYY年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6072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76072" y="2985516"/>
            <a:ext cx="1915302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76072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57134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2857134" y="2985516"/>
            <a:ext cx="1915302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57134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857134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38196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38196" y="2985516"/>
            <a:ext cx="1915302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38196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38196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19259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7419259" y="2985516"/>
            <a:ext cx="1915302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19259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419259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700321" y="2418588"/>
            <a:ext cx="1915302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9700321" y="2985516"/>
            <a:ext cx="1915302" cy="0"/>
          </a:xfrm>
          <a:prstGeom prst="line">
            <a:avLst/>
          </a:prstGeom>
          <a:noFill/>
          <a:ln w="12700">
            <a:solidFill>
              <a:srgbClr val="32201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00321" y="3095244"/>
            <a:ext cx="1915302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00321" y="3698748"/>
            <a:ext cx="1915302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 SCR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Situation・Complication・Resolution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920240"/>
            <a:ext cx="340553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Situation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6072" y="2304288"/>
            <a:ext cx="3405530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2468880"/>
            <a:ext cx="340553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6072" y="3383280"/>
            <a:ext cx="340553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76072" y="4937760"/>
            <a:ext cx="3405530" cy="0"/>
          </a:xfrm>
          <a:prstGeom prst="line">
            <a:avLst/>
          </a:prstGeom>
          <a:noFill/>
          <a:ln w="9525">
            <a:solidFill>
              <a:srgbClr val="8A7B6B"/>
            </a:solidFill>
            <a:prstDash val="sysDot"/>
          </a:ln>
        </p:spPr>
      </p:sp>
      <p:sp>
        <p:nvSpPr>
          <p:cNvPr id="15" name="Text 13"/>
          <p:cNvSpPr/>
          <p:nvPr/>
        </p:nvSpPr>
        <p:spPr>
          <a:xfrm>
            <a:off x="576072" y="5074920"/>
            <a:ext cx="340553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93082" y="1920240"/>
            <a:ext cx="340553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Complication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93082" y="2304288"/>
            <a:ext cx="3405530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3082" y="2468880"/>
            <a:ext cx="340553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93082" y="3383280"/>
            <a:ext cx="340553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93082" y="4937760"/>
            <a:ext cx="3405530" cy="0"/>
          </a:xfrm>
          <a:prstGeom prst="line">
            <a:avLst/>
          </a:prstGeom>
          <a:noFill/>
          <a:ln w="9525">
            <a:solidFill>
              <a:srgbClr val="8A7B6B"/>
            </a:solidFill>
            <a:prstDash val="sysDot"/>
          </a:ln>
        </p:spPr>
      </p:sp>
      <p:sp>
        <p:nvSpPr>
          <p:cNvPr id="21" name="Text 19"/>
          <p:cNvSpPr/>
          <p:nvPr/>
        </p:nvSpPr>
        <p:spPr>
          <a:xfrm>
            <a:off x="4393082" y="5074920"/>
            <a:ext cx="340553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0093" y="1920240"/>
            <a:ext cx="340553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Resolution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10093" y="2304288"/>
            <a:ext cx="3405530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0093" y="2468880"/>
            <a:ext cx="340553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10093" y="3383280"/>
            <a:ext cx="340553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10093" y="4937760"/>
            <a:ext cx="3405530" cy="0"/>
          </a:xfrm>
          <a:prstGeom prst="line">
            <a:avLst/>
          </a:prstGeom>
          <a:noFill/>
          <a:ln w="9525">
            <a:solidFill>
              <a:srgbClr val="8A7B6B"/>
            </a:solidFill>
            <a:prstDash val="sysDot"/>
          </a:ln>
        </p:spPr>
      </p:sp>
      <p:sp>
        <p:nvSpPr>
          <p:cNvPr id="27" name="Text 25"/>
          <p:cNvSpPr/>
          <p:nvPr/>
        </p:nvSpPr>
        <p:spPr>
          <a:xfrm>
            <a:off x="8210093" y="5074920"/>
            <a:ext cx="340553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注：前提や注記を記載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 ISSUE_TO_SOLUTION_MAP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課題と打ち手の対応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052828"/>
            <a:ext cx="510829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6072" y="2418588"/>
            <a:ext cx="5108296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2052828"/>
            <a:ext cx="5108296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07328" y="2418588"/>
            <a:ext cx="5108296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2702052"/>
            <a:ext cx="5108296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07328" y="2702052"/>
            <a:ext cx="5108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07328" y="3104388"/>
            <a:ext cx="51082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" y="3643884"/>
            <a:ext cx="5108296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507328" y="3643884"/>
            <a:ext cx="5108296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76072" y="3753612"/>
            <a:ext cx="5108296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07328" y="3753612"/>
            <a:ext cx="5108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07328" y="4155948"/>
            <a:ext cx="51082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76072" y="4695444"/>
            <a:ext cx="5108296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507328" y="4695444"/>
            <a:ext cx="5108296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576072" y="4805172"/>
            <a:ext cx="5108296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07328" y="4805172"/>
            <a:ext cx="5108296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507328" y="5207508"/>
            <a:ext cx="51082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9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5986120" y="4123944"/>
            <a:ext cx="219456" cy="201168"/>
          </a:xfrm>
          <a:prstGeom prst="triangle">
            <a:avLst/>
          </a:prstGeom>
          <a:solidFill>
            <a:srgbClr val="322014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 ISSUE_CAUSE_SOLUTION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課題→原因→解決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2514600"/>
            <a:ext cx="322265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6072" y="2898648"/>
            <a:ext cx="3222650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3063240"/>
            <a:ext cx="322265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" y="3749040"/>
            <a:ext cx="322265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35298" y="3794760"/>
            <a:ext cx="292608" cy="201168"/>
          </a:xfrm>
          <a:prstGeom prst="rightArrow">
            <a:avLst/>
          </a:prstGeom>
          <a:solidFill>
            <a:srgbClr val="5A3921"/>
          </a:solidFill>
          <a:ln/>
        </p:spPr>
      </p:sp>
      <p:sp>
        <p:nvSpPr>
          <p:cNvPr id="15" name="Text 13"/>
          <p:cNvSpPr/>
          <p:nvPr/>
        </p:nvSpPr>
        <p:spPr>
          <a:xfrm>
            <a:off x="4255922" y="2514600"/>
            <a:ext cx="322265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55922" y="2898648"/>
            <a:ext cx="3222650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5922" y="3063240"/>
            <a:ext cx="322265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55922" y="3749040"/>
            <a:ext cx="322265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15149" y="3794760"/>
            <a:ext cx="292608" cy="201168"/>
          </a:xfrm>
          <a:prstGeom prst="rightArrow">
            <a:avLst/>
          </a:prstGeom>
          <a:solidFill>
            <a:srgbClr val="5A3921"/>
          </a:solidFill>
          <a:ln/>
        </p:spPr>
      </p:sp>
      <p:sp>
        <p:nvSpPr>
          <p:cNvPr id="20" name="Text 18"/>
          <p:cNvSpPr/>
          <p:nvPr/>
        </p:nvSpPr>
        <p:spPr>
          <a:xfrm>
            <a:off x="7935773" y="2514600"/>
            <a:ext cx="322265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935773" y="2898648"/>
            <a:ext cx="3222650" cy="0"/>
          </a:xfrm>
          <a:prstGeom prst="line">
            <a:avLst/>
          </a:prstGeom>
          <a:noFill/>
          <a:ln w="25400">
            <a:solidFill>
              <a:srgbClr val="32201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35773" y="3063240"/>
            <a:ext cx="322265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35773" y="3749040"/>
            <a:ext cx="322265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 ISSUE_TREE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イシューツリー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3584448"/>
            <a:ext cx="2286000" cy="1005840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675888"/>
            <a:ext cx="1920240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分解したいイシュー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62072" y="4087368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82112" y="2703576"/>
            <a:ext cx="0" cy="2767584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2703576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02152" y="2429256"/>
            <a:ext cx="2743200" cy="54864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16" name="Text 14"/>
          <p:cNvSpPr/>
          <p:nvPr/>
        </p:nvSpPr>
        <p:spPr>
          <a:xfrm>
            <a:off x="3639312" y="2484120"/>
            <a:ext cx="24688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サブイシュー1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45352" y="2703576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65392" y="2415540"/>
            <a:ext cx="0" cy="576072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65392" y="2415540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31152" y="2246376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論点1-1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65392" y="2991612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2822448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論点1-2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182112" y="4087368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2152" y="3813048"/>
            <a:ext cx="2743200" cy="54864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25" name="Text 23"/>
          <p:cNvSpPr/>
          <p:nvPr/>
        </p:nvSpPr>
        <p:spPr>
          <a:xfrm>
            <a:off x="3639312" y="3867912"/>
            <a:ext cx="24688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サブイシュー2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45352" y="4087368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5392" y="3799332"/>
            <a:ext cx="0" cy="576072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65392" y="3799332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3630168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論点2-1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65392" y="4375404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4206240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論点2-2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182112" y="5471160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02152" y="5196840"/>
            <a:ext cx="2743200" cy="54864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34" name="Text 32"/>
          <p:cNvSpPr/>
          <p:nvPr/>
        </p:nvSpPr>
        <p:spPr>
          <a:xfrm>
            <a:off x="3639312" y="5251704"/>
            <a:ext cx="24688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サブイシュー3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45352" y="5471160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65392" y="5183124"/>
            <a:ext cx="0" cy="576072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65392" y="5183124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31152" y="5013960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論点3-1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565392" y="5759196"/>
            <a:ext cx="320040" cy="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31152" y="5590032"/>
            <a:ext cx="4638751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論点3-2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 CURRENT_TARGET_STATE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現状と目指す姿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50392" y="2391156"/>
            <a:ext cx="4559656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50392" y="2738628"/>
            <a:ext cx="4559656" cy="0"/>
          </a:xfrm>
          <a:prstGeom prst="line">
            <a:avLst/>
          </a:prstGeom>
          <a:noFill/>
          <a:ln w="20320">
            <a:solidFill>
              <a:srgbClr val="32201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2884932"/>
            <a:ext cx="455965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3415284"/>
            <a:ext cx="4559656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81648" y="2391156"/>
            <a:ext cx="4559656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81648" y="2738628"/>
            <a:ext cx="4559656" cy="0"/>
          </a:xfrm>
          <a:prstGeom prst="line">
            <a:avLst/>
          </a:prstGeom>
          <a:noFill/>
          <a:ln w="20320">
            <a:solidFill>
              <a:srgbClr val="5A392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81648" y="2884932"/>
            <a:ext cx="455965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81648" y="3415284"/>
            <a:ext cx="4559656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200" dirty="0"/>
          </a:p>
          <a:p>
            <a:pPr algn="l" marL="152400" indent="-152400">
              <a:buSzPct val="100000"/>
              <a:buChar char="•"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39816" y="3525012"/>
            <a:ext cx="512064" cy="512064"/>
          </a:xfrm>
          <a:prstGeom prst="ellipse">
            <a:avLst/>
          </a:prstGeom>
          <a:solidFill>
            <a:srgbClr val="322014"/>
          </a:solidFill>
          <a:ln/>
        </p:spPr>
      </p:sp>
      <p:sp>
        <p:nvSpPr>
          <p:cNvPr id="19" name="Shape 17"/>
          <p:cNvSpPr/>
          <p:nvPr/>
        </p:nvSpPr>
        <p:spPr>
          <a:xfrm rot="5400000">
            <a:off x="6013552" y="3698748"/>
            <a:ext cx="173736" cy="164592"/>
          </a:xfrm>
          <a:prstGeom prst="triangle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 CALC_FLOW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計算ロジックの流れ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74520"/>
            <a:ext cx="110395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指標名、単位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6072" y="2286000"/>
            <a:ext cx="31921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" y="2596896"/>
            <a:ext cx="3192170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780" y="4907280"/>
            <a:ext cx="548640" cy="432816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4" name="Text 12"/>
          <p:cNvSpPr/>
          <p:nvPr/>
        </p:nvSpPr>
        <p:spPr>
          <a:xfrm>
            <a:off x="833780" y="4907280"/>
            <a:ext cx="548640" cy="4328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97837" y="4041648"/>
            <a:ext cx="548640" cy="129844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17" name="Text 15"/>
          <p:cNvSpPr/>
          <p:nvPr/>
        </p:nvSpPr>
        <p:spPr>
          <a:xfrm>
            <a:off x="1897837" y="4041648"/>
            <a:ext cx="548640" cy="1298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40129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61894" y="2743200"/>
            <a:ext cx="548640" cy="2596896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0" name="Text 18"/>
          <p:cNvSpPr/>
          <p:nvPr/>
        </p:nvSpPr>
        <p:spPr>
          <a:xfrm>
            <a:off x="2961894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04186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951122" y="2286000"/>
            <a:ext cx="365760" cy="33284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499762" y="2286000"/>
            <a:ext cx="31921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99762" y="2596896"/>
            <a:ext cx="3192170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7471" y="2743200"/>
            <a:ext cx="548640" cy="2596896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6" name="Text 24"/>
          <p:cNvSpPr/>
          <p:nvPr/>
        </p:nvSpPr>
        <p:spPr>
          <a:xfrm>
            <a:off x="4757471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99762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21528" y="2743200"/>
            <a:ext cx="548640" cy="2596896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29" name="Text 27"/>
          <p:cNvSpPr/>
          <p:nvPr/>
        </p:nvSpPr>
        <p:spPr>
          <a:xfrm>
            <a:off x="5821528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63819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85584" y="2743200"/>
            <a:ext cx="548640" cy="2596896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32" name="Text 30"/>
          <p:cNvSpPr/>
          <p:nvPr/>
        </p:nvSpPr>
        <p:spPr>
          <a:xfrm>
            <a:off x="6885584" y="2743200"/>
            <a:ext cx="548640" cy="2596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27876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874813" y="2286000"/>
            <a:ext cx="365760" cy="33284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=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8423453" y="2286000"/>
            <a:ext cx="319217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423453" y="2596896"/>
            <a:ext cx="3192170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81161" y="4930060"/>
            <a:ext cx="548640" cy="410036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38" name="Text 36"/>
          <p:cNvSpPr/>
          <p:nvPr/>
        </p:nvSpPr>
        <p:spPr>
          <a:xfrm>
            <a:off x="8681161" y="4930060"/>
            <a:ext cx="548640" cy="4100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681161" y="4793381"/>
            <a:ext cx="548640" cy="136679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40" name="Text 38"/>
          <p:cNvSpPr/>
          <p:nvPr/>
        </p:nvSpPr>
        <p:spPr>
          <a:xfrm>
            <a:off x="8423453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745218" y="4301338"/>
            <a:ext cx="548640" cy="103875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42" name="Text 40"/>
          <p:cNvSpPr/>
          <p:nvPr/>
        </p:nvSpPr>
        <p:spPr>
          <a:xfrm>
            <a:off x="9745218" y="4301338"/>
            <a:ext cx="548640" cy="103875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3.8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745218" y="4164659"/>
            <a:ext cx="548640" cy="136679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44" name="Text 42"/>
          <p:cNvSpPr/>
          <p:nvPr/>
        </p:nvSpPr>
        <p:spPr>
          <a:xfrm>
            <a:off x="9487510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809275" y="2879879"/>
            <a:ext cx="548640" cy="2460217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46" name="Text 44"/>
          <p:cNvSpPr/>
          <p:nvPr/>
        </p:nvSpPr>
        <p:spPr>
          <a:xfrm>
            <a:off x="10809275" y="2879879"/>
            <a:ext cx="548640" cy="246021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809275" y="2743200"/>
            <a:ext cx="548640" cy="136679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48" name="Text 46"/>
          <p:cNvSpPr/>
          <p:nvPr/>
        </p:nvSpPr>
        <p:spPr>
          <a:xfrm>
            <a:off x="10551566" y="5385816"/>
            <a:ext cx="1064057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76072" y="6071616"/>
            <a:ext cx="182880" cy="182880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50" name="Text 48"/>
          <p:cNvSpPr/>
          <p:nvPr/>
        </p:nvSpPr>
        <p:spPr>
          <a:xfrm>
            <a:off x="832104" y="6053328"/>
            <a:ext cx="1463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221992" y="6071616"/>
            <a:ext cx="182880" cy="18288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52" name="Text 50"/>
          <p:cNvSpPr/>
          <p:nvPr/>
        </p:nvSpPr>
        <p:spPr>
          <a:xfrm>
            <a:off x="2478024" y="6053328"/>
            <a:ext cx="1463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 PROCESS_FLOW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プロセスの段階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638044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6072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76072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78760" y="2638044"/>
            <a:ext cx="365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335960" y="2638044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5960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35960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35960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38648" y="2638044"/>
            <a:ext cx="365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095848" y="2638044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95848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095848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095848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98535" y="2638044"/>
            <a:ext cx="365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855735" y="2638044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55735" y="2638044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855735" y="3296412"/>
            <a:ext cx="243984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855735" y="3717036"/>
            <a:ext cx="243984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 CYCLE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循環サイクル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255368" y="2377440"/>
            <a:ext cx="7680960" cy="3200400"/>
          </a:xfrm>
          <a:prstGeom prst="ellipse">
            <a:avLst/>
          </a:prstGeom>
          <a:ln w="12700">
            <a:solidFill>
              <a:srgbClr val="E2DCD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rot="2160000">
            <a:off x="7330830" y="3083555"/>
            <a:ext cx="329184" cy="182880"/>
          </a:xfrm>
          <a:prstGeom prst="rightArrow">
            <a:avLst/>
          </a:prstGeom>
          <a:solidFill>
            <a:srgbClr val="5A3921"/>
          </a:solidFill>
          <a:ln/>
        </p:spPr>
      </p:sp>
      <p:sp>
        <p:nvSpPr>
          <p:cNvPr id="12" name="Shape 10"/>
          <p:cNvSpPr/>
          <p:nvPr/>
        </p:nvSpPr>
        <p:spPr>
          <a:xfrm rot="6480000">
            <a:off x="8195814" y="4192783"/>
            <a:ext cx="329184" cy="182880"/>
          </a:xfrm>
          <a:prstGeom prst="rightArrow">
            <a:avLst/>
          </a:prstGeom>
          <a:solidFill>
            <a:srgbClr val="5A3921"/>
          </a:solidFill>
          <a:ln/>
        </p:spPr>
      </p:sp>
      <p:sp>
        <p:nvSpPr>
          <p:cNvPr id="13" name="Shape 11"/>
          <p:cNvSpPr/>
          <p:nvPr/>
        </p:nvSpPr>
        <p:spPr>
          <a:xfrm rot="10800000">
            <a:off x="5931256" y="4878324"/>
            <a:ext cx="329184" cy="182880"/>
          </a:xfrm>
          <a:prstGeom prst="rightArrow">
            <a:avLst/>
          </a:prstGeom>
          <a:solidFill>
            <a:srgbClr val="5A3921"/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3666697" y="4192783"/>
            <a:ext cx="329184" cy="182880"/>
          </a:xfrm>
          <a:prstGeom prst="rightArrow">
            <a:avLst/>
          </a:prstGeom>
          <a:solidFill>
            <a:srgbClr val="5A3921"/>
          </a:solidFill>
          <a:ln/>
        </p:spPr>
      </p:sp>
      <p:sp>
        <p:nvSpPr>
          <p:cNvPr id="15" name="Shape 13"/>
          <p:cNvSpPr/>
          <p:nvPr/>
        </p:nvSpPr>
        <p:spPr>
          <a:xfrm rot="19440000">
            <a:off x="4531682" y="3083555"/>
            <a:ext cx="329184" cy="182880"/>
          </a:xfrm>
          <a:prstGeom prst="rightArrow">
            <a:avLst/>
          </a:prstGeom>
          <a:solidFill>
            <a:srgbClr val="5A3921"/>
          </a:solidFill>
          <a:ln/>
        </p:spPr>
      </p:sp>
      <p:sp>
        <p:nvSpPr>
          <p:cNvPr id="16" name="Shape 14"/>
          <p:cNvSpPr/>
          <p:nvPr/>
        </p:nvSpPr>
        <p:spPr>
          <a:xfrm>
            <a:off x="5867248" y="1810512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724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07128" y="2395728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907128" y="2761488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19761" y="2916223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19761" y="2916223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59641" y="3501439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559641" y="3867199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4625" y="4705301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24625" y="4705301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64505" y="5290517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64505" y="5656277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09870" y="4705301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9870" y="4705301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49750" y="5290517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2649750" y="5656277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214734" y="2916223"/>
            <a:ext cx="457200" cy="457200"/>
          </a:xfrm>
          <a:prstGeom prst="ellipse">
            <a:avLst/>
          </a:prstGeom>
          <a:ln w="19050">
            <a:solidFill>
              <a:srgbClr val="32201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14734" y="2916223"/>
            <a:ext cx="4572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54614" y="3501439"/>
            <a:ext cx="2377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6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254614" y="3867199"/>
            <a:ext cx="23774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 CHEVRON_RAIL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矢羽の段階（全体像の見出し）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3177540"/>
            <a:ext cx="2527950" cy="1371600"/>
          </a:xfrm>
          <a:prstGeom prst="chevron">
            <a:avLst/>
          </a:prstGeom>
          <a:solidFill>
            <a:srgbClr val="EF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" y="3662172"/>
            <a:ext cx="402336" cy="402336"/>
          </a:xfrm>
          <a:prstGeom prst="ellipse">
            <a:avLst/>
          </a:prstGeom>
          <a:solidFill>
            <a:srgbClr val="322014"/>
          </a:solidFill>
          <a:ln/>
        </p:spPr>
      </p:sp>
      <p:sp>
        <p:nvSpPr>
          <p:cNvPr id="12" name="Text 10"/>
          <p:cNvSpPr/>
          <p:nvPr/>
        </p:nvSpPr>
        <p:spPr>
          <a:xfrm>
            <a:off x="850392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53312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53312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3982" y="3177540"/>
            <a:ext cx="2527950" cy="1371600"/>
          </a:xfrm>
          <a:prstGeom prst="chevron">
            <a:avLst/>
          </a:prstGeom>
          <a:solidFill>
            <a:srgbClr val="EFEEE8"/>
          </a:solidFill>
          <a:ln/>
        </p:spPr>
      </p:sp>
      <p:sp>
        <p:nvSpPr>
          <p:cNvPr id="16" name="Shape 14"/>
          <p:cNvSpPr/>
          <p:nvPr/>
        </p:nvSpPr>
        <p:spPr>
          <a:xfrm>
            <a:off x="3058302" y="3662172"/>
            <a:ext cx="402336" cy="402336"/>
          </a:xfrm>
          <a:prstGeom prst="ellipse">
            <a:avLst/>
          </a:prstGeom>
          <a:solidFill>
            <a:srgbClr val="322014"/>
          </a:solidFill>
          <a:ln/>
        </p:spPr>
      </p:sp>
      <p:sp>
        <p:nvSpPr>
          <p:cNvPr id="17" name="Text 15"/>
          <p:cNvSpPr/>
          <p:nvPr/>
        </p:nvSpPr>
        <p:spPr>
          <a:xfrm>
            <a:off x="3058302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1222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61222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91892" y="3177540"/>
            <a:ext cx="2527950" cy="1371600"/>
          </a:xfrm>
          <a:prstGeom prst="chevron">
            <a:avLst/>
          </a:prstGeom>
          <a:solidFill>
            <a:srgbClr val="EFEEE8"/>
          </a:solidFill>
          <a:ln/>
        </p:spPr>
      </p:sp>
      <p:sp>
        <p:nvSpPr>
          <p:cNvPr id="21" name="Shape 19"/>
          <p:cNvSpPr/>
          <p:nvPr/>
        </p:nvSpPr>
        <p:spPr>
          <a:xfrm>
            <a:off x="5266212" y="3662172"/>
            <a:ext cx="402336" cy="402336"/>
          </a:xfrm>
          <a:prstGeom prst="ellipse">
            <a:avLst/>
          </a:prstGeom>
          <a:solidFill>
            <a:srgbClr val="322014"/>
          </a:solidFill>
          <a:ln/>
        </p:spPr>
      </p:sp>
      <p:sp>
        <p:nvSpPr>
          <p:cNvPr id="22" name="Text 20"/>
          <p:cNvSpPr/>
          <p:nvPr/>
        </p:nvSpPr>
        <p:spPr>
          <a:xfrm>
            <a:off x="5266212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9132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9132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99803" y="3177540"/>
            <a:ext cx="2527950" cy="1371600"/>
          </a:xfrm>
          <a:prstGeom prst="chevron">
            <a:avLst/>
          </a:prstGeom>
          <a:solidFill>
            <a:srgbClr val="EFEEE8"/>
          </a:solidFill>
          <a:ln/>
        </p:spPr>
      </p:sp>
      <p:sp>
        <p:nvSpPr>
          <p:cNvPr id="26" name="Shape 24"/>
          <p:cNvSpPr/>
          <p:nvPr/>
        </p:nvSpPr>
        <p:spPr>
          <a:xfrm>
            <a:off x="7474123" y="3662172"/>
            <a:ext cx="402336" cy="402336"/>
          </a:xfrm>
          <a:prstGeom prst="ellipse">
            <a:avLst/>
          </a:prstGeom>
          <a:solidFill>
            <a:srgbClr val="322014"/>
          </a:solidFill>
          <a:ln/>
        </p:spPr>
      </p:sp>
      <p:sp>
        <p:nvSpPr>
          <p:cNvPr id="27" name="Text 25"/>
          <p:cNvSpPr/>
          <p:nvPr/>
        </p:nvSpPr>
        <p:spPr>
          <a:xfrm>
            <a:off x="7474123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977043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977043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407713" y="3177540"/>
            <a:ext cx="2527950" cy="1371600"/>
          </a:xfrm>
          <a:prstGeom prst="chevron">
            <a:avLst/>
          </a:prstGeom>
          <a:solidFill>
            <a:srgbClr val="EFEEE8"/>
          </a:solidFill>
          <a:ln/>
        </p:spPr>
      </p:sp>
      <p:sp>
        <p:nvSpPr>
          <p:cNvPr id="31" name="Shape 29"/>
          <p:cNvSpPr/>
          <p:nvPr/>
        </p:nvSpPr>
        <p:spPr>
          <a:xfrm>
            <a:off x="9682033" y="3662172"/>
            <a:ext cx="402336" cy="402336"/>
          </a:xfrm>
          <a:prstGeom prst="ellipse">
            <a:avLst/>
          </a:prstGeom>
          <a:solidFill>
            <a:srgbClr val="322014"/>
          </a:solidFill>
          <a:ln/>
        </p:spPr>
      </p:sp>
      <p:sp>
        <p:nvSpPr>
          <p:cNvPr id="32" name="Text 30"/>
          <p:cNvSpPr/>
          <p:nvPr/>
        </p:nvSpPr>
        <p:spPr>
          <a:xfrm>
            <a:off x="9682033" y="3662172"/>
            <a:ext cx="402336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184953" y="3561588"/>
            <a:ext cx="156783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184953" y="3872484"/>
            <a:ext cx="156783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 CHEVRON_VALUE_CHAIN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バリューチェーン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6072" y="1874520"/>
            <a:ext cx="11039551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76072" y="2185416"/>
            <a:ext cx="1733833" cy="411480"/>
          </a:xfrm>
          <a:prstGeom prst="homePlate">
            <a:avLst/>
          </a:prstGeom>
          <a:solidFill>
            <a:srgbClr val="322014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127025" y="2185416"/>
            <a:ext cx="1733833" cy="411480"/>
          </a:xfrm>
          <a:prstGeom prst="chevron">
            <a:avLst/>
          </a:prstGeom>
          <a:solidFill>
            <a:srgbClr val="322014"/>
          </a:solidFill>
          <a:ln/>
        </p:spPr>
      </p:sp>
      <p:sp>
        <p:nvSpPr>
          <p:cNvPr id="14" name="Text 12"/>
          <p:cNvSpPr/>
          <p:nvPr/>
        </p:nvSpPr>
        <p:spPr>
          <a:xfrm>
            <a:off x="2236753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77978" y="2185416"/>
            <a:ext cx="1733833" cy="411480"/>
          </a:xfrm>
          <a:prstGeom prst="chevron">
            <a:avLst/>
          </a:prstGeom>
          <a:solidFill>
            <a:srgbClr val="322014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706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28931" y="2185416"/>
            <a:ext cx="1733833" cy="411480"/>
          </a:xfrm>
          <a:prstGeom prst="chevron">
            <a:avLst/>
          </a:prstGeom>
          <a:solidFill>
            <a:srgbClr val="322014"/>
          </a:solidFill>
          <a:ln/>
        </p:spPr>
      </p:sp>
      <p:sp>
        <p:nvSpPr>
          <p:cNvPr id="18" name="Text 16"/>
          <p:cNvSpPr/>
          <p:nvPr/>
        </p:nvSpPr>
        <p:spPr>
          <a:xfrm>
            <a:off x="5338659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79884" y="2185416"/>
            <a:ext cx="1733833" cy="411480"/>
          </a:xfrm>
          <a:prstGeom prst="chevron">
            <a:avLst/>
          </a:prstGeom>
          <a:solidFill>
            <a:srgbClr val="322014"/>
          </a:solidFill>
          <a:ln/>
        </p:spPr>
      </p:sp>
      <p:sp>
        <p:nvSpPr>
          <p:cNvPr id="20" name="Text 18"/>
          <p:cNvSpPr/>
          <p:nvPr/>
        </p:nvSpPr>
        <p:spPr>
          <a:xfrm>
            <a:off x="6889612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330837" y="2185416"/>
            <a:ext cx="1733833" cy="411480"/>
          </a:xfrm>
          <a:prstGeom prst="chevron">
            <a:avLst/>
          </a:prstGeom>
          <a:solidFill>
            <a:srgbClr val="322014"/>
          </a:solidFill>
          <a:ln/>
        </p:spPr>
      </p:sp>
      <p:sp>
        <p:nvSpPr>
          <p:cNvPr id="22" name="Text 20"/>
          <p:cNvSpPr/>
          <p:nvPr/>
        </p:nvSpPr>
        <p:spPr>
          <a:xfrm>
            <a:off x="8440565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81790" y="2185416"/>
            <a:ext cx="1733833" cy="411480"/>
          </a:xfrm>
          <a:prstGeom prst="chevron">
            <a:avLst/>
          </a:prstGeom>
          <a:solidFill>
            <a:srgbClr val="322014"/>
          </a:solidFill>
          <a:ln/>
        </p:spPr>
      </p:sp>
      <p:sp>
        <p:nvSpPr>
          <p:cNvPr id="24" name="Text 22"/>
          <p:cNvSpPr/>
          <p:nvPr/>
        </p:nvSpPr>
        <p:spPr>
          <a:xfrm>
            <a:off x="9991518" y="2185416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45313" y="2724912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55041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96266" y="2724912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05994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47219" y="2724912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56947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98172" y="2724912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7900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349125" y="2724912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853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900078" y="2724912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09806" y="2706624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6072" y="4041648"/>
            <a:ext cx="11039551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76072" y="4352544"/>
            <a:ext cx="1733833" cy="411480"/>
          </a:xfrm>
          <a:prstGeom prst="homePlate">
            <a:avLst/>
          </a:prstGeom>
          <a:solidFill>
            <a:srgbClr val="C5A681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127025" y="4352544"/>
            <a:ext cx="1733833" cy="411480"/>
          </a:xfrm>
          <a:prstGeom prst="chevron">
            <a:avLst/>
          </a:prstGeom>
          <a:solidFill>
            <a:srgbClr val="C5A681"/>
          </a:solidFill>
          <a:ln/>
        </p:spPr>
      </p:sp>
      <p:sp>
        <p:nvSpPr>
          <p:cNvPr id="42" name="Text 40"/>
          <p:cNvSpPr/>
          <p:nvPr/>
        </p:nvSpPr>
        <p:spPr>
          <a:xfrm>
            <a:off x="2236753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77978" y="4352544"/>
            <a:ext cx="1733833" cy="411480"/>
          </a:xfrm>
          <a:prstGeom prst="chevron">
            <a:avLst/>
          </a:prstGeom>
          <a:solidFill>
            <a:srgbClr val="C5A681"/>
          </a:solidFill>
          <a:ln/>
        </p:spPr>
      </p:sp>
      <p:sp>
        <p:nvSpPr>
          <p:cNvPr id="44" name="Text 42"/>
          <p:cNvSpPr/>
          <p:nvPr/>
        </p:nvSpPr>
        <p:spPr>
          <a:xfrm>
            <a:off x="3787706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228931" y="4352544"/>
            <a:ext cx="1733833" cy="411480"/>
          </a:xfrm>
          <a:prstGeom prst="chevron">
            <a:avLst/>
          </a:prstGeom>
          <a:solidFill>
            <a:srgbClr val="C5A681"/>
          </a:solidFill>
          <a:ln/>
        </p:spPr>
      </p:sp>
      <p:sp>
        <p:nvSpPr>
          <p:cNvPr id="46" name="Text 44"/>
          <p:cNvSpPr/>
          <p:nvPr/>
        </p:nvSpPr>
        <p:spPr>
          <a:xfrm>
            <a:off x="5338659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ラベル13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779884" y="4352544"/>
            <a:ext cx="1733833" cy="411480"/>
          </a:xfrm>
          <a:prstGeom prst="chevron">
            <a:avLst/>
          </a:prstGeom>
          <a:solidFill>
            <a:srgbClr val="C5A681"/>
          </a:solidFill>
          <a:ln/>
        </p:spPr>
      </p:sp>
      <p:sp>
        <p:nvSpPr>
          <p:cNvPr id="48" name="Text 46"/>
          <p:cNvSpPr/>
          <p:nvPr/>
        </p:nvSpPr>
        <p:spPr>
          <a:xfrm>
            <a:off x="6889612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ラベル14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30837" y="4352544"/>
            <a:ext cx="1733833" cy="411480"/>
          </a:xfrm>
          <a:prstGeom prst="chevron">
            <a:avLst/>
          </a:prstGeom>
          <a:solidFill>
            <a:srgbClr val="C5A681"/>
          </a:solidFill>
          <a:ln/>
        </p:spPr>
      </p:sp>
      <p:sp>
        <p:nvSpPr>
          <p:cNvPr id="50" name="Text 48"/>
          <p:cNvSpPr/>
          <p:nvPr/>
        </p:nvSpPr>
        <p:spPr>
          <a:xfrm>
            <a:off x="8440565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881790" y="4352544"/>
            <a:ext cx="1733833" cy="411480"/>
          </a:xfrm>
          <a:prstGeom prst="chevron">
            <a:avLst/>
          </a:prstGeom>
          <a:solidFill>
            <a:srgbClr val="C5A681"/>
          </a:solidFill>
          <a:ln/>
        </p:spPr>
      </p:sp>
      <p:sp>
        <p:nvSpPr>
          <p:cNvPr id="52" name="Text 50"/>
          <p:cNvSpPr/>
          <p:nvPr/>
        </p:nvSpPr>
        <p:spPr>
          <a:xfrm>
            <a:off x="9991518" y="4352544"/>
            <a:ext cx="1368073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ラベル16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94360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8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145313" y="4892040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55041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9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96266" y="4892040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05994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247219" y="4892040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56947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11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798172" y="4892040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07900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12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349125" y="4892040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58853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13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900078" y="4892040"/>
            <a:ext cx="0" cy="1033272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09806" y="4873752"/>
            <a:ext cx="1276633" cy="11064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14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 DECISION_FORK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分岐と判断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894076"/>
            <a:ext cx="54864" cy="1280160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" y="2939796"/>
            <a:ext cx="3767328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 1：検討すべき問いを記載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873752" y="2674620"/>
            <a:ext cx="0" cy="2377440"/>
          </a:xfrm>
          <a:prstGeom prst="line">
            <a:avLst/>
          </a:prstGeom>
          <a:noFill/>
          <a:ln w="12700">
            <a:solidFill>
              <a:srgbClr val="E2DC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73752" y="2674620"/>
            <a:ext cx="274320" cy="0"/>
          </a:xfrm>
          <a:prstGeom prst="line">
            <a:avLst/>
          </a:prstGeom>
          <a:noFill/>
          <a:ln w="9525">
            <a:solidFill>
              <a:srgbClr val="E2DC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48072" y="2162556"/>
            <a:ext cx="6467551" cy="1024128"/>
          </a:xfrm>
          <a:prstGeom prst="rect">
            <a:avLst/>
          </a:prstGeom>
          <a:ln w="9525">
            <a:solidFill>
              <a:srgbClr val="E2DC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76672" y="2272284"/>
            <a:ext cx="60103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376672" y="2583180"/>
            <a:ext cx="6010351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76672" y="2930652"/>
            <a:ext cx="6010351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73752" y="3863340"/>
            <a:ext cx="274320" cy="0"/>
          </a:xfrm>
          <a:prstGeom prst="line">
            <a:avLst/>
          </a:prstGeom>
          <a:noFill/>
          <a:ln w="20320">
            <a:solidFill>
              <a:srgbClr val="5A392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48072" y="3351276"/>
            <a:ext cx="6467551" cy="1024128"/>
          </a:xfrm>
          <a:prstGeom prst="rect">
            <a:avLst/>
          </a:prstGeom>
          <a:ln w="20320">
            <a:solidFill>
              <a:srgbClr val="5A392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3461004"/>
            <a:ext cx="60103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376672" y="3771900"/>
            <a:ext cx="6010351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76672" y="4119372"/>
            <a:ext cx="6010351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73752" y="5052060"/>
            <a:ext cx="274320" cy="0"/>
          </a:xfrm>
          <a:prstGeom prst="line">
            <a:avLst/>
          </a:prstGeom>
          <a:noFill/>
          <a:ln w="9525">
            <a:solidFill>
              <a:srgbClr val="E2DC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48072" y="4539996"/>
            <a:ext cx="6467551" cy="1024128"/>
          </a:xfrm>
          <a:prstGeom prst="rect">
            <a:avLst/>
          </a:prstGeom>
          <a:ln w="9525">
            <a:solidFill>
              <a:srgbClr val="E2DC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76672" y="4649724"/>
            <a:ext cx="6010351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376672" y="4960620"/>
            <a:ext cx="6010351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76672" y="5308092"/>
            <a:ext cx="6010351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6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 ROADMAP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ロードマップ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583180"/>
            <a:ext cx="2741600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3335960" y="2583180"/>
            <a:ext cx="2741600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5960" y="2583180"/>
            <a:ext cx="0" cy="256032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3976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63976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095848" y="2583180"/>
            <a:ext cx="2741600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95848" y="2583180"/>
            <a:ext cx="0" cy="256032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23864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23864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855735" y="2583180"/>
            <a:ext cx="2741600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55735" y="2583180"/>
            <a:ext cx="0" cy="256032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83751" y="2793492"/>
            <a:ext cx="2531288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タイトル 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83751" y="3342132"/>
            <a:ext cx="2485568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1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 GANTT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ガントチャート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776472" y="1828800"/>
            <a:ext cx="5879363" cy="292608"/>
          </a:xfrm>
          <a:prstGeom prst="rect">
            <a:avLst/>
          </a:prstGeom>
          <a:ln w="9525">
            <a:solidFill>
              <a:srgbClr val="E2DC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6472" y="1828800"/>
            <a:ext cx="5879363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55835" y="1828800"/>
            <a:ext cx="1959788" cy="292608"/>
          </a:xfrm>
          <a:prstGeom prst="rect">
            <a:avLst/>
          </a:prstGeom>
          <a:ln w="9525">
            <a:solidFill>
              <a:srgbClr val="E2DC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55835" y="1828800"/>
            <a:ext cx="1959788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76472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29735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82997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36260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89522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42785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96048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ラベル7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349310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002573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ラベル9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655835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309098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962361" y="2157984"/>
            <a:ext cx="653263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" y="2468880"/>
            <a:ext cx="11039551" cy="0"/>
          </a:xfrm>
          <a:prstGeom prst="line">
            <a:avLst/>
          </a:prstGeom>
          <a:noFill/>
          <a:ln w="17780">
            <a:solidFill>
              <a:srgbClr val="32201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11663" y="2542032"/>
            <a:ext cx="182880" cy="164592"/>
          </a:xfrm>
          <a:prstGeom prst="triangle">
            <a:avLst/>
          </a:prstGeom>
          <a:solidFill>
            <a:srgbClr val="322014"/>
          </a:solidFill>
          <a:ln/>
        </p:spPr>
      </p:sp>
      <p:sp>
        <p:nvSpPr>
          <p:cNvPr id="28" name="Text 26"/>
          <p:cNvSpPr/>
          <p:nvPr/>
        </p:nvSpPr>
        <p:spPr>
          <a:xfrm>
            <a:off x="3234423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18189" y="2542032"/>
            <a:ext cx="182880" cy="164592"/>
          </a:xfrm>
          <a:prstGeom prst="triangle">
            <a:avLst/>
          </a:prstGeom>
          <a:solidFill>
            <a:srgbClr val="322014"/>
          </a:solidFill>
          <a:ln/>
        </p:spPr>
      </p:sp>
      <p:sp>
        <p:nvSpPr>
          <p:cNvPr id="30" name="Text 28"/>
          <p:cNvSpPr/>
          <p:nvPr/>
        </p:nvSpPr>
        <p:spPr>
          <a:xfrm>
            <a:off x="4540949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ラベル16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77976" y="2542032"/>
            <a:ext cx="182880" cy="164592"/>
          </a:xfrm>
          <a:prstGeom prst="triangle">
            <a:avLst/>
          </a:prstGeom>
          <a:solidFill>
            <a:srgbClr val="322014"/>
          </a:solidFill>
          <a:ln/>
        </p:spPr>
      </p:sp>
      <p:sp>
        <p:nvSpPr>
          <p:cNvPr id="32" name="Text 30"/>
          <p:cNvSpPr/>
          <p:nvPr/>
        </p:nvSpPr>
        <p:spPr>
          <a:xfrm>
            <a:off x="6500736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ラベル17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237764" y="2542032"/>
            <a:ext cx="182880" cy="164592"/>
          </a:xfrm>
          <a:prstGeom prst="triangle">
            <a:avLst/>
          </a:prstGeom>
          <a:solidFill>
            <a:srgbClr val="322014"/>
          </a:solidFill>
          <a:ln/>
        </p:spPr>
      </p:sp>
      <p:sp>
        <p:nvSpPr>
          <p:cNvPr id="34" name="Text 32"/>
          <p:cNvSpPr/>
          <p:nvPr/>
        </p:nvSpPr>
        <p:spPr>
          <a:xfrm>
            <a:off x="8460524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ラベル18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197552" y="2542032"/>
            <a:ext cx="182880" cy="164592"/>
          </a:xfrm>
          <a:prstGeom prst="triangle">
            <a:avLst/>
          </a:prstGeom>
          <a:solidFill>
            <a:srgbClr val="322014"/>
          </a:solidFill>
          <a:ln/>
        </p:spPr>
      </p:sp>
      <p:sp>
        <p:nvSpPr>
          <p:cNvPr id="36" name="Text 34"/>
          <p:cNvSpPr/>
          <p:nvPr/>
        </p:nvSpPr>
        <p:spPr>
          <a:xfrm>
            <a:off x="10420312" y="2724912"/>
            <a:ext cx="1737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ラベル19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29735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82997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36260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89522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042785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96048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49310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02573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655835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09098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962361" y="2468880"/>
            <a:ext cx="0" cy="3739896"/>
          </a:xfrm>
          <a:prstGeom prst="line">
            <a:avLst/>
          </a:prstGeom>
          <a:noFill/>
          <a:ln w="5080">
            <a:solidFill>
              <a:srgbClr val="E2DCD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6072" y="3017520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ラベル20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76072" y="3017520"/>
            <a:ext cx="11039551" cy="0"/>
          </a:xfrm>
          <a:prstGeom prst="line">
            <a:avLst/>
          </a:prstGeom>
          <a:noFill/>
          <a:ln w="10160">
            <a:solidFill>
              <a:srgbClr val="32201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47672" y="3017520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ラベル21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813048" y="3144883"/>
            <a:ext cx="580111" cy="2011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52" name="Text 50"/>
          <p:cNvSpPr/>
          <p:nvPr/>
        </p:nvSpPr>
        <p:spPr>
          <a:xfrm>
            <a:off x="576072" y="3473414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ラベル22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76072" y="3473414"/>
            <a:ext cx="11039551" cy="0"/>
          </a:xfrm>
          <a:prstGeom prst="line">
            <a:avLst/>
          </a:prstGeom>
          <a:noFill/>
          <a:ln w="10160">
            <a:solidFill>
              <a:srgbClr val="32201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47672" y="3473414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ラベル23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466311" y="3600777"/>
            <a:ext cx="1233373" cy="201168"/>
          </a:xfrm>
          <a:prstGeom prst="rect">
            <a:avLst/>
          </a:prstGeom>
          <a:solidFill>
            <a:srgbClr val="C5A681"/>
          </a:solidFill>
          <a:ln/>
        </p:spPr>
      </p:sp>
      <p:sp>
        <p:nvSpPr>
          <p:cNvPr id="56" name="Text 54"/>
          <p:cNvSpPr/>
          <p:nvPr/>
        </p:nvSpPr>
        <p:spPr>
          <a:xfrm>
            <a:off x="576072" y="3929307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ラベル24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76072" y="3929307"/>
            <a:ext cx="11039551" cy="0"/>
          </a:xfrm>
          <a:prstGeom prst="line">
            <a:avLst/>
          </a:prstGeom>
          <a:noFill/>
          <a:ln w="10160">
            <a:solidFill>
              <a:srgbClr val="32201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47672" y="3929307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ラベル25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119573" y="4056670"/>
            <a:ext cx="580111" cy="2011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60" name="Text 58"/>
          <p:cNvSpPr/>
          <p:nvPr/>
        </p:nvSpPr>
        <p:spPr>
          <a:xfrm>
            <a:off x="576072" y="4385201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ラベル26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76072" y="4385201"/>
            <a:ext cx="11039551" cy="0"/>
          </a:xfrm>
          <a:prstGeom prst="line">
            <a:avLst/>
          </a:prstGeom>
          <a:noFill/>
          <a:ln w="10160">
            <a:solidFill>
              <a:srgbClr val="32201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47672" y="4385201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ラベル27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772836" y="4512564"/>
            <a:ext cx="1233373" cy="2011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64" name="Text 62"/>
          <p:cNvSpPr/>
          <p:nvPr/>
        </p:nvSpPr>
        <p:spPr>
          <a:xfrm>
            <a:off x="576072" y="4841095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ラベル28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76072" y="4841095"/>
            <a:ext cx="11039551" cy="0"/>
          </a:xfrm>
          <a:prstGeom prst="line">
            <a:avLst/>
          </a:prstGeom>
          <a:noFill/>
          <a:ln w="10160">
            <a:solidFill>
              <a:srgbClr val="32201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47672" y="4841095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ラベル29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6426098" y="4968458"/>
            <a:ext cx="1233373" cy="201168"/>
          </a:xfrm>
          <a:prstGeom prst="rect">
            <a:avLst/>
          </a:prstGeom>
          <a:solidFill>
            <a:srgbClr val="5A3921"/>
          </a:solidFill>
          <a:ln/>
        </p:spPr>
      </p:sp>
      <p:sp>
        <p:nvSpPr>
          <p:cNvPr id="68" name="Text 66"/>
          <p:cNvSpPr/>
          <p:nvPr/>
        </p:nvSpPr>
        <p:spPr>
          <a:xfrm>
            <a:off x="576072" y="5296989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ラベル30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576072" y="5296989"/>
            <a:ext cx="11039551" cy="0"/>
          </a:xfrm>
          <a:prstGeom prst="line">
            <a:avLst/>
          </a:prstGeom>
          <a:noFill/>
          <a:ln w="10160">
            <a:solidFill>
              <a:srgbClr val="32201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47672" y="5296989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ラベル31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9039149" y="5424351"/>
            <a:ext cx="1233373" cy="201168"/>
          </a:xfrm>
          <a:prstGeom prst="rect">
            <a:avLst/>
          </a:prstGeom>
          <a:solidFill>
            <a:srgbClr val="322014"/>
          </a:solidFill>
          <a:ln/>
        </p:spPr>
      </p:sp>
      <p:sp>
        <p:nvSpPr>
          <p:cNvPr id="72" name="Text 70"/>
          <p:cNvSpPr/>
          <p:nvPr/>
        </p:nvSpPr>
        <p:spPr>
          <a:xfrm>
            <a:off x="576072" y="5752882"/>
            <a:ext cx="12801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ラベル32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576072" y="5752882"/>
            <a:ext cx="11039551" cy="0"/>
          </a:xfrm>
          <a:prstGeom prst="line">
            <a:avLst/>
          </a:prstGeom>
          <a:noFill/>
          <a:ln w="10160">
            <a:solidFill>
              <a:srgbClr val="32201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47672" y="5752882"/>
            <a:ext cx="1737360" cy="45589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ラベル33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10345674" y="5880245"/>
            <a:ext cx="1233373" cy="201168"/>
          </a:xfrm>
          <a:prstGeom prst="rightArrow">
            <a:avLst/>
          </a:prstGeom>
          <a:solidFill>
            <a:srgbClr val="322014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スライド型カタログ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043623" y="411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 DECISION_PAGE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76072" y="784555"/>
            <a:ext cx="11039551" cy="0"/>
          </a:xfrm>
          <a:prstGeom prst="line">
            <a:avLst/>
          </a:prstGeom>
          <a:noFill/>
          <a:ln w="13970">
            <a:solidFill>
              <a:srgbClr val="32201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914400"/>
            <a:ext cx="110395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22014"/>
                </a:solidFill>
                <a:latin typeface="Yu Mincho Demibold" pitchFamily="34" charset="0"/>
                <a:ea typeface="Yu Mincho Demibold" pitchFamily="34" charset="-122"/>
                <a:cs typeface="Yu Mincho Demibold" pitchFamily="34" charset="-120"/>
              </a:rPr>
              <a:t>意思決定ページ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76072" y="624535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出典：Source 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6483096"/>
            <a:ext cx="11039551" cy="0"/>
          </a:xfrm>
          <a:prstGeom prst="line">
            <a:avLst/>
          </a:prstGeom>
          <a:noFill/>
          <a:ln w="8890">
            <a:solidFill>
              <a:srgbClr val="E2DC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656539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スライド型カタログ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249863" y="65653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76072" y="2889504"/>
            <a:ext cx="5212080" cy="0"/>
          </a:xfrm>
          <a:prstGeom prst="line">
            <a:avLst/>
          </a:prstGeom>
          <a:noFill/>
          <a:ln w="27940">
            <a:solidFill>
              <a:srgbClr val="5A392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309981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7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推奨する意思決定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76072" y="3465576"/>
            <a:ext cx="530352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2916936"/>
            <a:ext cx="274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20840" y="2916936"/>
            <a:ext cx="45720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2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72200" y="3401568"/>
            <a:ext cx="5074920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3630168"/>
            <a:ext cx="274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3630168"/>
            <a:ext cx="45720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3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114800"/>
            <a:ext cx="5074920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4343400"/>
            <a:ext cx="274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A392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4343400"/>
            <a:ext cx="45720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2201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 4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72200" y="4828032"/>
            <a:ext cx="5074920" cy="0"/>
          </a:xfrm>
          <a:prstGeom prst="line">
            <a:avLst/>
          </a:prstGeom>
          <a:noFill/>
          <a:ln w="6350">
            <a:solidFill>
              <a:srgbClr val="E2DCD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Consulting Slide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スライド型カタログ</dc:title>
  <dc:subject>Editable synthetic consulting deck generated from SlideSpec</dc:subject>
  <dc:creator>Consulting Slide Lab</dc:creator>
  <cp:lastModifiedBy>Consulting Slide Lab</cp:lastModifiedBy>
  <cp:revision>1</cp:revision>
  <dcterms:created xsi:type="dcterms:W3CDTF">2026-09-04T17:37:29Z</dcterms:created>
  <dcterms:modified xsi:type="dcterms:W3CDTF">2026-09-04T17:37:29Z</dcterms:modified>
</cp:coreProperties>
</file>