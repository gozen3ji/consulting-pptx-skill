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80000">
            <a:off x="8778240" y="-411480"/>
            <a:ext cx="448056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C5A681">
                <a:alpha val="7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SUPER TEMPLATE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スーパーテンプレ 38型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実測38のスライド型 | コピーして文言を差し替えて使う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資料：スライド型ライブラリより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EXECUTIVE_SUMMARY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冒頭で結論と論点を一望させる場合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3008376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602736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61688" y="3008376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61688" y="3602736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74736" y="3008376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74736" y="3602736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EVIDENCE_BASIS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この資料が何に基づくかを冒頭で示す場合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2354580"/>
            <a:ext cx="338328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補足（何を・どの範囲で・いつ時点か）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2354580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46520" y="2427732"/>
            <a:ext cx="5196535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994660"/>
            <a:ext cx="7071055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140964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46520" y="3214116"/>
            <a:ext cx="5196535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3781044"/>
            <a:ext cx="7071055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927348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640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46520" y="4000500"/>
            <a:ext cx="5196535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4567428"/>
            <a:ext cx="7071055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713732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46520" y="4786884"/>
            <a:ext cx="5196535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5353812"/>
            <a:ext cx="7071055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BIG_STAT_PAIR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大型数値2つで規模やインパクトを対比する場合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1984248"/>
            <a:ext cx="1109441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補足（何を・どの範囲で・いつ時点か）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752344"/>
            <a:ext cx="51814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4306824"/>
            <a:ext cx="518144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084064"/>
            <a:ext cx="518144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61608" y="2752344"/>
            <a:ext cx="51814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461608" y="4306824"/>
            <a:ext cx="518144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1608" y="5084064"/>
            <a:ext cx="518144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KPI_DASHBOARD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主要KPIを一覧で示す場合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8640" y="2871216"/>
            <a:ext cx="2499284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24992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28416"/>
            <a:ext cx="24992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-18%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4059936"/>
            <a:ext cx="24992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379976"/>
            <a:ext cx="249928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13684" y="2871216"/>
            <a:ext cx="2499284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3684" y="3017520"/>
            <a:ext cx="24992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3684" y="3328416"/>
            <a:ext cx="24992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days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413684" y="4059936"/>
            <a:ext cx="24992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13684" y="4379976"/>
            <a:ext cx="249928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8728" y="2871216"/>
            <a:ext cx="2499284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3017520"/>
            <a:ext cx="24992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78728" y="3328416"/>
            <a:ext cx="24992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278728" y="4059936"/>
            <a:ext cx="24992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78728" y="4379976"/>
            <a:ext cx="249928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3771" y="2871216"/>
            <a:ext cx="2499284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3771" y="3017520"/>
            <a:ext cx="24992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3771" y="3328416"/>
            <a:ext cx="24992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$6M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143771" y="4059936"/>
            <a:ext cx="24992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3771" y="4379976"/>
            <a:ext cx="249928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CHART_INSIGHT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1つのチャートで主張を証明し、含意を添える場合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 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126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4442723"/>
            <a:ext cx="566928" cy="1135117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4214123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4123471"/>
            <a:ext cx="566928" cy="1454369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894871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0" y="3839692"/>
            <a:ext cx="566928" cy="1738148"/>
          </a:xfrm>
          <a:prstGeom prst="rect">
            <a:avLst/>
          </a:prstGeom>
          <a:solidFill>
            <a:srgbClr val="C5A681"/>
          </a:solidFill>
          <a:ln w="12700">
            <a:solidFill>
              <a:srgbClr val="C5A6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3611092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26280" y="3520440"/>
            <a:ext cx="566928" cy="2057400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291840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577840"/>
            <a:ext cx="5760720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2057400"/>
            <a:ext cx="0" cy="1417320"/>
          </a:xfrm>
          <a:prstGeom prst="line">
            <a:avLst/>
          </a:prstGeom>
          <a:noFill/>
          <a:ln w="27940">
            <a:solidFill>
              <a:srgbClr val="5A39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2057400"/>
            <a:ext cx="418795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59168" y="2560320"/>
            <a:ext cx="4187952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STACKED_BAR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構成の変化を積み上げ棒で示す場合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86229" y="4642175"/>
            <a:ext cx="1188720" cy="935665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6229" y="5000279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86229" y="3940426"/>
            <a:ext cx="1188720" cy="701749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6229" y="418157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86229" y="3472593"/>
            <a:ext cx="1188720" cy="467833"/>
          </a:xfrm>
          <a:prstGeom prst="rect">
            <a:avLst/>
          </a:prstGeom>
          <a:solidFill>
            <a:srgbClr val="C5A681"/>
          </a:solidFill>
          <a:ln w="12700">
            <a:solidFill>
              <a:srgbClr val="C5A6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6229" y="359678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03349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01488" y="4291300"/>
            <a:ext cx="1188720" cy="1286540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1488" y="482484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01488" y="3542768"/>
            <a:ext cx="1188720" cy="748532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1488" y="3807306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01488" y="3028153"/>
            <a:ext cx="1188720" cy="514616"/>
          </a:xfrm>
          <a:prstGeom prst="rect">
            <a:avLst/>
          </a:prstGeom>
          <a:solidFill>
            <a:srgbClr val="C5A681"/>
          </a:solidFill>
          <a:ln w="12700">
            <a:solidFill>
              <a:srgbClr val="C5A6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1488" y="317573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18608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16746" y="3893643"/>
            <a:ext cx="1188720" cy="1684197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16746" y="4626013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16746" y="3121719"/>
            <a:ext cx="1188720" cy="771924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6746" y="3397953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16746" y="2560320"/>
            <a:ext cx="1188720" cy="561399"/>
          </a:xfrm>
          <a:prstGeom prst="rect">
            <a:avLst/>
          </a:prstGeom>
          <a:solidFill>
            <a:srgbClr val="C5A681"/>
          </a:solidFill>
          <a:ln w="12700">
            <a:solidFill>
              <a:srgbClr val="C5A6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16746" y="273129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33866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943600"/>
            <a:ext cx="201168" cy="201168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77440" y="5943600"/>
            <a:ext cx="201168" cy="201168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0048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06240" y="5943600"/>
            <a:ext cx="201168" cy="201168"/>
          </a:xfrm>
          <a:prstGeom prst="rect">
            <a:avLst/>
          </a:prstGeom>
          <a:solidFill>
            <a:srgbClr val="C5A681"/>
          </a:solidFill>
          <a:ln w="12700">
            <a:solidFill>
              <a:srgbClr val="C5A6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8848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WATERFALL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増減の寄与をブリッジで示す場合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 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035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108269"/>
            <a:ext cx="603504" cy="1469571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3870525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801368" y="5313317"/>
            <a:ext cx="603504" cy="264523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28216" y="5075573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36776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825496" y="5225143"/>
            <a:ext cx="603504" cy="352697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52344" y="4987399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60904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849624" y="5445579"/>
            <a:ext cx="603504" cy="132261"/>
          </a:xfrm>
          <a:prstGeom prst="rect">
            <a:avLst/>
          </a:prstGeom>
          <a:solidFill>
            <a:srgbClr val="A22727"/>
          </a:solidFill>
          <a:ln w="12700">
            <a:solidFill>
              <a:srgbClr val="A227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5207835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85032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873752" y="5474970"/>
            <a:ext cx="603504" cy="102870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5237226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897880" y="3520440"/>
            <a:ext cx="603504" cy="2057400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24728" y="3282696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33288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48640" y="5577840"/>
            <a:ext cx="5852160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965960"/>
            <a:ext cx="0" cy="1325880"/>
          </a:xfrm>
          <a:prstGeom prst="line">
            <a:avLst/>
          </a:prstGeom>
          <a:noFill/>
          <a:ln w="27940">
            <a:solidFill>
              <a:srgbClr val="5A39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59168" y="1965960"/>
            <a:ext cx="409651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59168" y="2468880"/>
            <a:ext cx="409651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TRUE_WATERFALL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起点から着地までの増減を厳密なブリッジで示す場合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4618" y="3364992"/>
            <a:ext cx="1005840" cy="2212848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1738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0298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83773" y="3364992"/>
            <a:ext cx="1005840" cy="603504"/>
          </a:xfrm>
          <a:prstGeom prst="rect">
            <a:avLst/>
          </a:prstGeom>
          <a:solidFill>
            <a:srgbClr val="A22727"/>
          </a:solidFill>
          <a:ln w="12700">
            <a:solidFill>
              <a:srgbClr val="A227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893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9453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92928" y="3163824"/>
            <a:ext cx="1005840" cy="804672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0048" y="2907792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18608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02083" y="2560320"/>
            <a:ext cx="1005840" cy="603504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9203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27763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11238" y="2560320"/>
            <a:ext cx="1005840" cy="3017520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28358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36918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SMALL_MULTIPLES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同じ図法を並べて切り口違いで比較する場合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31860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5318608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6475" y="3148847"/>
            <a:ext cx="457200" cy="357877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25012"/>
            <a:ext cx="1772869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9344" y="2880439"/>
            <a:ext cx="457200" cy="626285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1509" y="3525012"/>
            <a:ext cx="1772869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2213" y="2468880"/>
            <a:ext cx="457200" cy="1037844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4378" y="3525012"/>
            <a:ext cx="1772869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24448" y="2011680"/>
            <a:ext cx="531860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24448" y="2322576"/>
            <a:ext cx="5318608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82282" y="3238316"/>
            <a:ext cx="457200" cy="268408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448" y="3525012"/>
            <a:ext cx="1772869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755151" y="3005696"/>
            <a:ext cx="457200" cy="501028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7317" y="3525012"/>
            <a:ext cx="1772869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28021" y="2719394"/>
            <a:ext cx="457200" cy="787330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0186" y="3525012"/>
            <a:ext cx="1772869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219956"/>
            <a:ext cx="531860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30852"/>
            <a:ext cx="5318608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6475" y="5571849"/>
            <a:ext cx="457200" cy="143151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733288"/>
            <a:ext cx="1772869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79344" y="5464486"/>
            <a:ext cx="457200" cy="250514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21509" y="5733288"/>
            <a:ext cx="1772869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2213" y="5303441"/>
            <a:ext cx="457200" cy="411559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4378" y="5733288"/>
            <a:ext cx="1772869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24448" y="4219956"/>
            <a:ext cx="531860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24448" y="4530852"/>
            <a:ext cx="5318608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82282" y="5500274"/>
            <a:ext cx="457200" cy="214726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4448" y="5733288"/>
            <a:ext cx="1772869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755151" y="5321335"/>
            <a:ext cx="457200" cy="393665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7317" y="5733288"/>
            <a:ext cx="1772869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528021" y="5052927"/>
            <a:ext cx="457200" cy="662073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0186" y="5733288"/>
            <a:ext cx="1772869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COMPARISON_TABLE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複数の選択肢を評価軸で比較する場合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72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29968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45079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Criterion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Company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Competitors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Implication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 SCENARIO_TABLE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シナリオ別の前提と結果を並べる場合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 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72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29968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3931920"/>
                <a:gridCol w="38679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Case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Revenue outcome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Key assumptions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Management implication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A39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A39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A39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 RISK_TABLE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リスク・兆候・打ち手を整理する場合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7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29968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560320"/>
                <a:gridCol w="4572000"/>
                <a:gridCol w="11247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Risk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Signal to track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Mitigation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Owner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 HORIZONTAL_AXIS_TABLE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横軸に項目を並べて評価する場合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1109441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コールアウト：色付き行の意味を1行で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11094415" cy="0"/>
          </a:xfrm>
          <a:prstGeom prst="line">
            <a:avLst/>
          </a:prstGeom>
          <a:noFill/>
          <a:ln w="7620">
            <a:solidFill>
              <a:srgbClr val="8A7B6B"/>
            </a:solidFill>
            <a:prstDash val="sysDot"/>
          </a:ln>
        </p:spPr>
      </p:sp>
      <p:sp>
        <p:nvSpPr>
          <p:cNvPr id="9" name="Text 7"/>
          <p:cNvSpPr/>
          <p:nvPr/>
        </p:nvSpPr>
        <p:spPr>
          <a:xfrm>
            <a:off x="548640" y="2569464"/>
            <a:ext cx="1311759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1311759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3279" y="2569464"/>
            <a:ext cx="275469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43279" y="2916936"/>
            <a:ext cx="2754694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0853" y="2569464"/>
            <a:ext cx="301704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0853" y="2916936"/>
            <a:ext cx="3017045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0778" y="2569464"/>
            <a:ext cx="157411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0778" y="2916936"/>
            <a:ext cx="1574111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37769" y="2569464"/>
            <a:ext cx="1705287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37769" y="2916936"/>
            <a:ext cx="1705287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35808"/>
            <a:ext cx="11185855" cy="832104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08960"/>
            <a:ext cx="1311759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43279" y="3108960"/>
            <a:ext cx="275469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0853" y="3108960"/>
            <a:ext cx="3017045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80778" y="3108960"/>
            <a:ext cx="1574111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937769" y="3108960"/>
            <a:ext cx="170528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04488"/>
            <a:ext cx="11094415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48640" y="3977640"/>
            <a:ext cx="1311759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43279" y="3977640"/>
            <a:ext cx="275469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80853" y="3977640"/>
            <a:ext cx="3017045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180778" y="3977640"/>
            <a:ext cx="1574111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937769" y="3977640"/>
            <a:ext cx="170528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773168"/>
            <a:ext cx="11094415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48640" y="4846320"/>
            <a:ext cx="1311759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043279" y="4846320"/>
            <a:ext cx="275469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80853" y="4846320"/>
            <a:ext cx="3017045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80778" y="4846320"/>
            <a:ext cx="1574111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937769" y="4846320"/>
            <a:ext cx="170528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641848"/>
            <a:ext cx="11094415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 HEATMAP_TABLE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濃淡で強弱を一覧表示する場合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行の軸名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26080" y="2011680"/>
            <a:ext cx="21060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2340864"/>
            <a:ext cx="2106092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5324" y="2011680"/>
            <a:ext cx="21060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05324" y="2340864"/>
            <a:ext cx="2106092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4568" y="2011680"/>
            <a:ext cx="21060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84568" y="2340864"/>
            <a:ext cx="2106092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3811" y="2011680"/>
            <a:ext cx="21060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63811" y="2340864"/>
            <a:ext cx="2106092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6090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2514600"/>
            <a:ext cx="2106092" cy="658368"/>
          </a:xfrm>
          <a:prstGeom prst="rect">
            <a:avLst/>
          </a:prstGeom>
          <a:solidFill>
            <a:srgbClr val="5A3921"/>
          </a:solidFill>
          <a:ln w="6350">
            <a:solidFill>
              <a:srgbClr val="5A39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51460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05324" y="2514600"/>
            <a:ext cx="2106092" cy="658368"/>
          </a:xfrm>
          <a:prstGeom prst="rect">
            <a:avLst/>
          </a:prstGeom>
          <a:solidFill>
            <a:srgbClr val="C5A681"/>
          </a:solidFill>
          <a:ln w="6350">
            <a:solidFill>
              <a:srgbClr val="C5A6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5324" y="251460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84568" y="2514600"/>
            <a:ext cx="2106092" cy="658368"/>
          </a:xfrm>
          <a:prstGeom prst="rect">
            <a:avLst/>
          </a:prstGeom>
          <a:solidFill>
            <a:srgbClr val="EFEEE8"/>
          </a:solidFill>
          <a:ln w="6350">
            <a:solidFill>
              <a:srgbClr val="EFE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84568" y="251460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63811" y="2514600"/>
            <a:ext cx="2106092" cy="658368"/>
          </a:xfrm>
          <a:prstGeom prst="rect">
            <a:avLst/>
          </a:prstGeom>
          <a:solidFill>
            <a:srgbClr val="C5A681"/>
          </a:solidFill>
          <a:ln w="6350">
            <a:solidFill>
              <a:srgbClr val="C5A6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3811" y="251460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339242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3246120"/>
            <a:ext cx="2106092" cy="658368"/>
          </a:xfrm>
          <a:prstGeom prst="rect">
            <a:avLst/>
          </a:prstGeom>
          <a:solidFill>
            <a:srgbClr val="C5A681"/>
          </a:solidFill>
          <a:ln w="6350">
            <a:solidFill>
              <a:srgbClr val="C5A6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24612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05324" y="3246120"/>
            <a:ext cx="2106092" cy="658368"/>
          </a:xfrm>
          <a:prstGeom prst="rect">
            <a:avLst/>
          </a:prstGeom>
          <a:solidFill>
            <a:srgbClr val="EFEEE8"/>
          </a:solidFill>
          <a:ln w="6350">
            <a:solidFill>
              <a:srgbClr val="EFE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5324" y="324612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284568" y="3246120"/>
            <a:ext cx="210609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4568" y="324612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463811" y="3246120"/>
            <a:ext cx="2106092" cy="658368"/>
          </a:xfrm>
          <a:prstGeom prst="rect">
            <a:avLst/>
          </a:prstGeom>
          <a:solidFill>
            <a:srgbClr val="EFEEE8"/>
          </a:solidFill>
          <a:ln w="6350">
            <a:solidFill>
              <a:srgbClr val="EFE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63811" y="324612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412394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26080" y="3977640"/>
            <a:ext cx="2106092" cy="658368"/>
          </a:xfrm>
          <a:prstGeom prst="rect">
            <a:avLst/>
          </a:prstGeom>
          <a:solidFill>
            <a:srgbClr val="5A3921"/>
          </a:solidFill>
          <a:ln w="6350">
            <a:solidFill>
              <a:srgbClr val="5A392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397764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105324" y="3977640"/>
            <a:ext cx="2106092" cy="658368"/>
          </a:xfrm>
          <a:prstGeom prst="rect">
            <a:avLst/>
          </a:prstGeom>
          <a:solidFill>
            <a:srgbClr val="5A3921"/>
          </a:solidFill>
          <a:ln w="6350">
            <a:solidFill>
              <a:srgbClr val="5A392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5324" y="397764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284568" y="3977640"/>
            <a:ext cx="2106092" cy="658368"/>
          </a:xfrm>
          <a:prstGeom prst="rect">
            <a:avLst/>
          </a:prstGeom>
          <a:solidFill>
            <a:srgbClr val="C5A681"/>
          </a:solidFill>
          <a:ln w="6350">
            <a:solidFill>
              <a:srgbClr val="C5A6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84568" y="397764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463811" y="3977640"/>
            <a:ext cx="2106092" cy="658368"/>
          </a:xfrm>
          <a:prstGeom prst="rect">
            <a:avLst/>
          </a:prstGeom>
          <a:solidFill>
            <a:srgbClr val="5A3921"/>
          </a:solidFill>
          <a:ln w="6350">
            <a:solidFill>
              <a:srgbClr val="5A392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63811" y="397764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485546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926080" y="4709160"/>
            <a:ext cx="2106092" cy="658368"/>
          </a:xfrm>
          <a:prstGeom prst="rect">
            <a:avLst/>
          </a:prstGeom>
          <a:solidFill>
            <a:srgbClr val="C5A681"/>
          </a:solidFill>
          <a:ln w="6350">
            <a:solidFill>
              <a:srgbClr val="C5A6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0" y="470916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105324" y="4709160"/>
            <a:ext cx="2106092" cy="658368"/>
          </a:xfrm>
          <a:prstGeom prst="rect">
            <a:avLst/>
          </a:prstGeom>
          <a:solidFill>
            <a:srgbClr val="EFEEE8"/>
          </a:solidFill>
          <a:ln w="6350">
            <a:solidFill>
              <a:srgbClr val="EFE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05324" y="470916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284568" y="4709160"/>
            <a:ext cx="210609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84568" y="470916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463811" y="4709160"/>
            <a:ext cx="2106092" cy="658368"/>
          </a:xfrm>
          <a:prstGeom prst="rect">
            <a:avLst/>
          </a:prstGeom>
          <a:solidFill>
            <a:srgbClr val="EFEEE8"/>
          </a:solidFill>
          <a:ln w="6350">
            <a:solidFill>
              <a:srgbClr val="EFE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63811" y="4709160"/>
            <a:ext cx="21060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557784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1248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468880" y="5577840"/>
            <a:ext cx="201168" cy="201168"/>
          </a:xfrm>
          <a:prstGeom prst="rect">
            <a:avLst/>
          </a:prstGeom>
          <a:solidFill>
            <a:srgbClr val="EFEEE8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61488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389120" y="5577840"/>
            <a:ext cx="201168" cy="201168"/>
          </a:xfrm>
          <a:prstGeom prst="rect">
            <a:avLst/>
          </a:prstGeom>
          <a:solidFill>
            <a:srgbClr val="C5A681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81728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09360" y="5577840"/>
            <a:ext cx="201168" cy="201168"/>
          </a:xfrm>
          <a:prstGeom prst="rect">
            <a:avLst/>
          </a:prstGeom>
          <a:solidFill>
            <a:srgbClr val="5A3921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01968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 MATRIX_2X2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2つの軸で位置づけを整理する場合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621792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57400"/>
            <a:ext cx="0" cy="361188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057400"/>
            <a:ext cx="0" cy="361188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63340"/>
            <a:ext cx="6217920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83080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縦軸名（上ほど高い）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0" y="5724144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横軸名（右ほど高い）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95190" y="2759659"/>
            <a:ext cx="1060704" cy="329184"/>
          </a:xfrm>
          <a:prstGeom prst="rect">
            <a:avLst/>
          </a:prstGeom>
          <a:solidFill>
            <a:srgbClr val="5A3921"/>
          </a:solidFill>
          <a:ln w="7620">
            <a:solidFill>
              <a:srgbClr val="5A39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0910" y="2805379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施策1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4246474" y="3409798"/>
            <a:ext cx="1060704" cy="329184"/>
          </a:xfrm>
          <a:prstGeom prst="rect">
            <a:avLst/>
          </a:prstGeom>
          <a:solidFill>
            <a:srgbClr val="5A3921"/>
          </a:solidFill>
          <a:ln w="7620">
            <a:solidFill>
              <a:srgbClr val="5A39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2194" y="3455518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施策2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2194560" y="3012491"/>
            <a:ext cx="1060704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5A39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3058211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施策3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878531" y="4132174"/>
            <a:ext cx="1060704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5A39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4251" y="4177894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施策4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1448410" y="4565599"/>
            <a:ext cx="1060704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5A39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94130" y="4611319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施策5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7315200" y="2121408"/>
            <a:ext cx="4023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52360" y="2898648"/>
            <a:ext cx="3657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52360" y="3401568"/>
            <a:ext cx="3657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 PROCESS_MATRIX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プロセスと観点の掛け合わせで整理する場合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2071116"/>
            <a:ext cx="21945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行の軸名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2071116"/>
            <a:ext cx="283860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2400300"/>
            <a:ext cx="2838602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09818" y="2071116"/>
            <a:ext cx="283860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09818" y="2400300"/>
            <a:ext cx="2838602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76437" y="2071116"/>
            <a:ext cx="283860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76437" y="2400300"/>
            <a:ext cx="2838602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56916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2574036"/>
            <a:ext cx="2838602" cy="886968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2720340"/>
            <a:ext cx="250941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09818" y="2574036"/>
            <a:ext cx="2838602" cy="886968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4410" y="2720340"/>
            <a:ext cx="250941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808476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3625596"/>
            <a:ext cx="2838602" cy="886968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07792" y="3771900"/>
            <a:ext cx="250941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09818" y="3625596"/>
            <a:ext cx="2838602" cy="886968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4410" y="3771900"/>
            <a:ext cx="250941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860036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0" y="4677156"/>
            <a:ext cx="2838602" cy="886968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07792" y="4823460"/>
            <a:ext cx="250941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709818" y="4677156"/>
            <a:ext cx="2838602" cy="886968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4410" y="4823460"/>
            <a:ext cx="250941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676437" y="4677156"/>
            <a:ext cx="2838602" cy="886968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41029" y="4823460"/>
            <a:ext cx="250941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 NESTED_ROW_MATRIX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入れ子の行構造で階層を示す場合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8640" y="1929384"/>
            <a:ext cx="1682496" cy="2293315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9384"/>
            <a:ext cx="1682496" cy="229331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7440" y="1929384"/>
            <a:ext cx="2048256" cy="654710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929384"/>
            <a:ext cx="2048256" cy="6547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6979615" cy="6181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1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77440" y="2675534"/>
            <a:ext cx="9265615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377440" y="2748686"/>
            <a:ext cx="2048256" cy="654710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2748686"/>
            <a:ext cx="2048256" cy="6547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2785262"/>
            <a:ext cx="6979615" cy="6181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3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377440" y="3494837"/>
            <a:ext cx="9265615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377440" y="3567989"/>
            <a:ext cx="2048256" cy="654710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3567989"/>
            <a:ext cx="2048256" cy="6547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3604565"/>
            <a:ext cx="6979615" cy="6181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5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6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377440" y="4314139"/>
            <a:ext cx="9265615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8640" y="4387291"/>
            <a:ext cx="1682496" cy="1474013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87291"/>
            <a:ext cx="1682496" cy="147401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77440" y="4387291"/>
            <a:ext cx="2048256" cy="654710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4387291"/>
            <a:ext cx="2048256" cy="6547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63440" y="4423867"/>
            <a:ext cx="6979615" cy="6181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7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377440" y="5133442"/>
            <a:ext cx="9265615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377440" y="5206594"/>
            <a:ext cx="2048256" cy="654710"/>
          </a:xfrm>
          <a:prstGeom prst="rect">
            <a:avLst/>
          </a:prstGeom>
          <a:solidFill>
            <a:srgbClr val="EFEEE8"/>
          </a:solidFill>
          <a:ln w="12700">
            <a:solidFill>
              <a:srgbClr val="EFE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5206594"/>
            <a:ext cx="2048256" cy="6547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63440" y="5243170"/>
            <a:ext cx="6979615" cy="6181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8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377440" y="5952744"/>
            <a:ext cx="9265615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  TIMELINE_MATRIX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時系列と項目のマトリクスで示す場合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164592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249424"/>
            <a:ext cx="290565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2578608"/>
            <a:ext cx="2905658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5978" y="2249424"/>
            <a:ext cx="290565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65978" y="2578608"/>
            <a:ext cx="2905658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54517" y="2249424"/>
            <a:ext cx="290565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54517" y="2578608"/>
            <a:ext cx="2905658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62072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2862072"/>
            <a:ext cx="290565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65978" y="2862072"/>
            <a:ext cx="290565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54517" y="2862072"/>
            <a:ext cx="290565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30168"/>
            <a:ext cx="11094415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48640" y="3776472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3776472"/>
            <a:ext cx="290565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65978" y="3776472"/>
            <a:ext cx="290565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54517" y="3776472"/>
            <a:ext cx="290565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44568"/>
            <a:ext cx="11094415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48640" y="4690872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77440" y="4690872"/>
            <a:ext cx="290565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65978" y="4690872"/>
            <a:ext cx="290565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54517" y="4690872"/>
            <a:ext cx="290565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458968"/>
            <a:ext cx="11094415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  THEME_CARD_GRID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複数のテーマをカードで並べる場合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1109441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補足（何を・どの範囲で・いつ時点か）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78024"/>
            <a:ext cx="2567864" cy="274320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505456"/>
            <a:ext cx="24215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35224"/>
            <a:ext cx="2567864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502152"/>
            <a:ext cx="2567864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5266944"/>
            <a:ext cx="256786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3.4x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253664" y="2478024"/>
            <a:ext cx="0" cy="320040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14" name="Shape 12"/>
          <p:cNvSpPr/>
          <p:nvPr/>
        </p:nvSpPr>
        <p:spPr>
          <a:xfrm>
            <a:off x="3390824" y="2478024"/>
            <a:ext cx="2567864" cy="274320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3976" y="2505456"/>
            <a:ext cx="24215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90824" y="2935224"/>
            <a:ext cx="2567864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90824" y="3502152"/>
            <a:ext cx="2567864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90824" y="5266944"/>
            <a:ext cx="256786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+22%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095848" y="2478024"/>
            <a:ext cx="0" cy="320040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20" name="Shape 18"/>
          <p:cNvSpPr/>
          <p:nvPr/>
        </p:nvSpPr>
        <p:spPr>
          <a:xfrm>
            <a:off x="6233008" y="2478024"/>
            <a:ext cx="2567864" cy="274320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6160" y="2505456"/>
            <a:ext cx="24215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33008" y="2935224"/>
            <a:ext cx="2567864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3008" y="3502152"/>
            <a:ext cx="2567864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33008" y="5266944"/>
            <a:ext cx="256786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-41%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8938031" y="2478024"/>
            <a:ext cx="0" cy="320040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26" name="Shape 24"/>
          <p:cNvSpPr/>
          <p:nvPr/>
        </p:nvSpPr>
        <p:spPr>
          <a:xfrm>
            <a:off x="9075191" y="2478024"/>
            <a:ext cx="2567864" cy="274320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8343" y="2505456"/>
            <a:ext cx="24215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75191" y="2935224"/>
            <a:ext cx="2567864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75191" y="3502152"/>
            <a:ext cx="2567864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075191" y="5266944"/>
            <a:ext cx="256786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92%</a:t>
            </a:r>
            <a:endParaRPr 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 RECOMMENDATION_PILLARS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複数の提言を柱立てで示す場合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393338" cy="0"/>
          </a:xfrm>
          <a:prstGeom prst="line">
            <a:avLst/>
          </a:prstGeom>
          <a:noFill/>
          <a:ln w="31750">
            <a:solidFill>
              <a:srgbClr val="5A392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67712"/>
            <a:ext cx="457200" cy="457200"/>
          </a:xfrm>
          <a:prstGeom prst="ellipse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39333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39333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339333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2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99178" y="2103120"/>
            <a:ext cx="3393338" cy="0"/>
          </a:xfrm>
          <a:prstGeom prst="line">
            <a:avLst/>
          </a:prstGeom>
          <a:noFill/>
          <a:ln w="31750">
            <a:solidFill>
              <a:srgbClr val="5A392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9178" y="2267712"/>
            <a:ext cx="457200" cy="457200"/>
          </a:xfrm>
          <a:prstGeom prst="ellipse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99178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99178" y="2871216"/>
            <a:ext cx="339333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99178" y="3383280"/>
            <a:ext cx="339333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99178" y="4023360"/>
            <a:ext cx="339333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5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49717" y="2103120"/>
            <a:ext cx="3393338" cy="0"/>
          </a:xfrm>
          <a:prstGeom prst="line">
            <a:avLst/>
          </a:prstGeom>
          <a:noFill/>
          <a:ln w="31750">
            <a:solidFill>
              <a:srgbClr val="5A392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9717" y="2267712"/>
            <a:ext cx="457200" cy="457200"/>
          </a:xfrm>
          <a:prstGeom prst="ellipse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9717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49717" y="2871216"/>
            <a:ext cx="339333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49717" y="3383280"/>
            <a:ext cx="339333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49717" y="4023360"/>
            <a:ext cx="339333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8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Text 9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  NUMBERED_IMPERATIVES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やるべきことを番号付きで示す場合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1824228"/>
            <a:ext cx="1109441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補足（何を・どの範囲で・いつ時点か）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409444"/>
            <a:ext cx="1926275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976372"/>
            <a:ext cx="1926275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86100"/>
            <a:ext cx="1926275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689604"/>
            <a:ext cx="1926275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40675" y="2409444"/>
            <a:ext cx="1926275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2840675" y="2976372"/>
            <a:ext cx="1926275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0675" y="3086100"/>
            <a:ext cx="1926275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40675" y="3689604"/>
            <a:ext cx="1926275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32710" y="2409444"/>
            <a:ext cx="1926275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132710" y="2976372"/>
            <a:ext cx="1926275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2710" y="3086100"/>
            <a:ext cx="1926275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32710" y="3689604"/>
            <a:ext cx="1926275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24745" y="2409444"/>
            <a:ext cx="1926275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7424745" y="2976372"/>
            <a:ext cx="1926275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745" y="3086100"/>
            <a:ext cx="1926275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24745" y="3689604"/>
            <a:ext cx="1926275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16780" y="2409444"/>
            <a:ext cx="1926275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9716780" y="2976372"/>
            <a:ext cx="1926275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16780" y="3086100"/>
            <a:ext cx="1926275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16780" y="3689604"/>
            <a:ext cx="1926275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  QUESTION_FRAMEWORK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検討すべき問いを構造化する場合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1778508"/>
            <a:ext cx="1109441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補足（何を・どの範囲で・いつ時点か）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63724"/>
            <a:ext cx="1600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69108"/>
            <a:ext cx="160020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10" name="Text 8"/>
          <p:cNvSpPr/>
          <p:nvPr/>
        </p:nvSpPr>
        <p:spPr>
          <a:xfrm>
            <a:off x="548640" y="2933700"/>
            <a:ext cx="1600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39084"/>
            <a:ext cx="160020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12" name="Text 10"/>
          <p:cNvSpPr/>
          <p:nvPr/>
        </p:nvSpPr>
        <p:spPr>
          <a:xfrm>
            <a:off x="548640" y="3503676"/>
            <a:ext cx="1600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160020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14" name="Text 12"/>
          <p:cNvSpPr/>
          <p:nvPr/>
        </p:nvSpPr>
        <p:spPr>
          <a:xfrm>
            <a:off x="548640" y="4073652"/>
            <a:ext cx="1600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479036"/>
            <a:ext cx="160020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16" name="Text 14"/>
          <p:cNvSpPr/>
          <p:nvPr/>
        </p:nvSpPr>
        <p:spPr>
          <a:xfrm>
            <a:off x="548640" y="4643628"/>
            <a:ext cx="1600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49012"/>
            <a:ext cx="160020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18" name="Text 16"/>
          <p:cNvSpPr/>
          <p:nvPr/>
        </p:nvSpPr>
        <p:spPr>
          <a:xfrm>
            <a:off x="548640" y="5213604"/>
            <a:ext cx="1600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40280" y="2363724"/>
            <a:ext cx="0" cy="356616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363724"/>
            <a:ext cx="44499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 タイトル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77440" y="2747772"/>
            <a:ext cx="444992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93128" y="2363724"/>
            <a:ext cx="44499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 タイトル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93128" y="2747772"/>
            <a:ext cx="444992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77440" y="3552444"/>
            <a:ext cx="44499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 タイトル 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377440" y="3936492"/>
            <a:ext cx="444992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93128" y="3552444"/>
            <a:ext cx="44499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 タイトル 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93128" y="3936492"/>
            <a:ext cx="444992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377440" y="4741164"/>
            <a:ext cx="44499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  タイトル 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377440" y="5125212"/>
            <a:ext cx="444992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93128" y="4741164"/>
            <a:ext cx="44499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  タイトル 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93128" y="5125212"/>
            <a:ext cx="444992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  SCR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状況・複雑化・解決の3段で語る場合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42381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342381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342381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423818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3423818" cy="0"/>
          </a:xfrm>
          <a:prstGeom prst="line">
            <a:avLst/>
          </a:prstGeom>
          <a:noFill/>
          <a:ln w="9525">
            <a:solidFill>
              <a:srgbClr val="8A7B6B"/>
            </a:solidFill>
            <a:prstDash val="sysDot"/>
          </a:ln>
        </p:spPr>
      </p:sp>
      <p:sp>
        <p:nvSpPr>
          <p:cNvPr id="12" name="Text 10"/>
          <p:cNvSpPr/>
          <p:nvPr/>
        </p:nvSpPr>
        <p:spPr>
          <a:xfrm>
            <a:off x="548640" y="5074920"/>
            <a:ext cx="342381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3938" y="1920240"/>
            <a:ext cx="342381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83938" y="2304288"/>
            <a:ext cx="342381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3938" y="2468880"/>
            <a:ext cx="342381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83938" y="3383280"/>
            <a:ext cx="3423818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3938" y="4937760"/>
            <a:ext cx="3423818" cy="0"/>
          </a:xfrm>
          <a:prstGeom prst="line">
            <a:avLst/>
          </a:prstGeom>
          <a:noFill/>
          <a:ln w="9525">
            <a:solidFill>
              <a:srgbClr val="8A7B6B"/>
            </a:solidFill>
            <a:prstDash val="sysDot"/>
          </a:ln>
        </p:spPr>
      </p:sp>
      <p:sp>
        <p:nvSpPr>
          <p:cNvPr id="18" name="Text 16"/>
          <p:cNvSpPr/>
          <p:nvPr/>
        </p:nvSpPr>
        <p:spPr>
          <a:xfrm>
            <a:off x="4383938" y="5074920"/>
            <a:ext cx="342381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19237" y="1920240"/>
            <a:ext cx="342381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19237" y="2304288"/>
            <a:ext cx="342381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9237" y="2468880"/>
            <a:ext cx="342381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19237" y="3383280"/>
            <a:ext cx="3423818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19237" y="4937760"/>
            <a:ext cx="3423818" cy="0"/>
          </a:xfrm>
          <a:prstGeom prst="line">
            <a:avLst/>
          </a:prstGeom>
          <a:noFill/>
          <a:ln w="9525">
            <a:solidFill>
              <a:srgbClr val="8A7B6B"/>
            </a:solidFill>
            <a:prstDash val="sysDot"/>
          </a:ln>
        </p:spPr>
      </p:sp>
      <p:sp>
        <p:nvSpPr>
          <p:cNvPr id="24" name="Text 22"/>
          <p:cNvSpPr/>
          <p:nvPr/>
        </p:nvSpPr>
        <p:spPr>
          <a:xfrm>
            <a:off x="8219237" y="5074920"/>
            <a:ext cx="342381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  ISSUE_TO_SOLUTION_MAP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課題と解決策を対応付ける場合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2043684"/>
            <a:ext cx="513572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Issue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09444"/>
            <a:ext cx="513572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7328" y="2043684"/>
            <a:ext cx="513572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Resolution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07328" y="2409444"/>
            <a:ext cx="513572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92908"/>
            <a:ext cx="513572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07328" y="2692908"/>
            <a:ext cx="513572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07328" y="3095244"/>
            <a:ext cx="513572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34740"/>
            <a:ext cx="5135728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507328" y="3634740"/>
            <a:ext cx="5135728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48640" y="3744468"/>
            <a:ext cx="513572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07328" y="3744468"/>
            <a:ext cx="513572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07328" y="4146804"/>
            <a:ext cx="513572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686300"/>
            <a:ext cx="5135728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507328" y="4686300"/>
            <a:ext cx="5135728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48640" y="4796028"/>
            <a:ext cx="513572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07328" y="4796028"/>
            <a:ext cx="513572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07328" y="5198364"/>
            <a:ext cx="513572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rot="5400000">
            <a:off x="5986120" y="4114800"/>
            <a:ext cx="219456" cy="201168"/>
          </a:xfrm>
          <a:prstGeom prst="triangle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  ISSUE_CAUSE_SOLUTION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課題から原因、解決策へ流れで示す場合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2505456"/>
            <a:ext cx="324093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324093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54096"/>
            <a:ext cx="324093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39896"/>
            <a:ext cx="3240938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26154" y="3785616"/>
            <a:ext cx="292608" cy="201168"/>
          </a:xfrm>
          <a:prstGeom prst="rightArrow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46778" y="2505456"/>
            <a:ext cx="324093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46778" y="2889504"/>
            <a:ext cx="324093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6778" y="3054096"/>
            <a:ext cx="324093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46778" y="3739896"/>
            <a:ext cx="3240938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24293" y="3785616"/>
            <a:ext cx="292608" cy="201168"/>
          </a:xfrm>
          <a:prstGeom prst="rightArrow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44917" y="2505456"/>
            <a:ext cx="324093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44917" y="2889504"/>
            <a:ext cx="324093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4917" y="3054096"/>
            <a:ext cx="324093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44917" y="3739896"/>
            <a:ext cx="3240938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  ISSUE_TREE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課題をツリーで分解する場合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8640" y="3465576"/>
            <a:ext cx="2286000" cy="1005840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57016"/>
            <a:ext cx="1920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分解したいイシュー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396849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2663952"/>
            <a:ext cx="0" cy="2609088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2663952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389632"/>
            <a:ext cx="2743200" cy="54864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444496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サブイシュー1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663952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375916"/>
            <a:ext cx="0" cy="576072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37591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2206752"/>
            <a:ext cx="4693615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論点1-1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0" y="2951988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782824"/>
            <a:ext cx="4693615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論点1-2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54680" y="396849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3694176"/>
            <a:ext cx="2743200" cy="54864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3749040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サブイシュー2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96849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680460"/>
            <a:ext cx="0" cy="576072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3680460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511296"/>
            <a:ext cx="4693615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論点2-1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4256532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4087368"/>
            <a:ext cx="4693615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論点2-2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154680" y="5273040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4998720"/>
            <a:ext cx="2743200" cy="54864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5053584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サブイシュー3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5273040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4985004"/>
            <a:ext cx="0" cy="576072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4985004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4815840"/>
            <a:ext cx="4693615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論点3-1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37960" y="556107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5391912"/>
            <a:ext cx="4693615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論点3-2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  CAUSE_EFFECT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原因と結果の連鎖を示す場合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120640" cy="1155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DC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64008" cy="1155192"/>
          </a:xfrm>
          <a:prstGeom prst="rect">
            <a:avLst/>
          </a:prstGeom>
          <a:solidFill>
            <a:srgbClr val="C5A681"/>
          </a:solidFill>
          <a:ln w="12700">
            <a:solidFill>
              <a:srgbClr val="C5A6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57984"/>
            <a:ext cx="46634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523744"/>
            <a:ext cx="4663440" cy="606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68040"/>
            <a:ext cx="5120640" cy="1155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DC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368040"/>
            <a:ext cx="64008" cy="1155192"/>
          </a:xfrm>
          <a:prstGeom prst="rect">
            <a:avLst/>
          </a:prstGeom>
          <a:solidFill>
            <a:srgbClr val="C5A681"/>
          </a:solidFill>
          <a:ln w="12700">
            <a:solidFill>
              <a:srgbClr val="C5A6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14344"/>
            <a:ext cx="46634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880104"/>
            <a:ext cx="4663440" cy="606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724400"/>
            <a:ext cx="5120640" cy="1155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DC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724400"/>
            <a:ext cx="64008" cy="1155192"/>
          </a:xfrm>
          <a:prstGeom prst="rect">
            <a:avLst/>
          </a:prstGeom>
          <a:solidFill>
            <a:srgbClr val="C5A681"/>
          </a:solidFill>
          <a:ln w="12700">
            <a:solidFill>
              <a:srgbClr val="C5A6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70704"/>
            <a:ext cx="46634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236464"/>
            <a:ext cx="4663440" cy="606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52160" y="3799332"/>
            <a:ext cx="457200" cy="292608"/>
          </a:xfrm>
          <a:prstGeom prst="rightArrow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2011680"/>
            <a:ext cx="5013655" cy="3867912"/>
          </a:xfrm>
          <a:prstGeom prst="rect">
            <a:avLst/>
          </a:prstGeom>
          <a:solidFill>
            <a:srgbClr val="FFFFFF"/>
          </a:solidFill>
          <a:ln w="20320">
            <a:solidFill>
              <a:srgbClr val="5A39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286000"/>
            <a:ext cx="4465015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EFFECT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651760"/>
            <a:ext cx="4465015" cy="2953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  CURRENT_TARGET_STATE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現状と目指す姿を対比する場合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22960" y="2523744"/>
            <a:ext cx="4587088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871216"/>
            <a:ext cx="4587088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458708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458708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458708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681728"/>
            <a:ext cx="458708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81648" y="2523744"/>
            <a:ext cx="4587088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81648" y="2871216"/>
            <a:ext cx="4587088" cy="0"/>
          </a:xfrm>
          <a:prstGeom prst="line">
            <a:avLst/>
          </a:prstGeom>
          <a:noFill/>
          <a:ln w="20320">
            <a:solidFill>
              <a:srgbClr val="5A39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1648" y="3017520"/>
            <a:ext cx="458708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81648" y="3547872"/>
            <a:ext cx="256032" cy="256032"/>
          </a:xfrm>
          <a:prstGeom prst="ellipse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1648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65696" y="3547872"/>
            <a:ext cx="422132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81648" y="4114800"/>
            <a:ext cx="256032" cy="256032"/>
          </a:xfrm>
          <a:prstGeom prst="ellipse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1648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65696" y="4114800"/>
            <a:ext cx="422132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81648" y="4681728"/>
            <a:ext cx="256032" cy="256032"/>
          </a:xfrm>
          <a:prstGeom prst="ellipse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1648" y="468172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65696" y="4681728"/>
            <a:ext cx="422132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39816" y="3657600"/>
            <a:ext cx="512064" cy="512064"/>
          </a:xfrm>
          <a:prstGeom prst="ellipse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6013552" y="3831336"/>
            <a:ext cx="173736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  CALC_FLOW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計算ロジックを式の流れで示す場合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9441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21045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96896"/>
            <a:ext cx="3210458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396" y="4709160"/>
            <a:ext cx="548640" cy="393192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396" y="4709160"/>
            <a:ext cx="5486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5148072"/>
            <a:ext cx="1070153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79549" y="3922776"/>
            <a:ext cx="548640" cy="1179576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9549" y="3922776"/>
            <a:ext cx="548640" cy="11795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18793" y="5148072"/>
            <a:ext cx="1070153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49702" y="2743200"/>
            <a:ext cx="548640" cy="2359152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49702" y="2743200"/>
            <a:ext cx="548640" cy="2359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88946" y="5148072"/>
            <a:ext cx="1070153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41978" y="2286000"/>
            <a:ext cx="365760" cy="3090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490618" y="2286000"/>
            <a:ext cx="321045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90618" y="2596896"/>
            <a:ext cx="3210458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1375" y="2743200"/>
            <a:ext cx="548640" cy="2359152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1375" y="2743200"/>
            <a:ext cx="548640" cy="2359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90618" y="5148072"/>
            <a:ext cx="1070153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21528" y="2743200"/>
            <a:ext cx="548640" cy="2359152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21528" y="2743200"/>
            <a:ext cx="548640" cy="2359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60771" y="5148072"/>
            <a:ext cx="1070153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91680" y="2743200"/>
            <a:ext cx="548640" cy="2359152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91680" y="2743200"/>
            <a:ext cx="548640" cy="2359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30924" y="5148072"/>
            <a:ext cx="1070153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83957" y="2286000"/>
            <a:ext cx="365760" cy="3090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432597" y="2286000"/>
            <a:ext cx="321045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32597" y="2596896"/>
            <a:ext cx="3210458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93353" y="4729854"/>
            <a:ext cx="548640" cy="372498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93353" y="4729854"/>
            <a:ext cx="548640" cy="37249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693353" y="4605688"/>
            <a:ext cx="548640" cy="124166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2597" y="5148072"/>
            <a:ext cx="1070153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763506" y="4158691"/>
            <a:ext cx="548640" cy="943661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63506" y="4158691"/>
            <a:ext cx="548640" cy="94366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763506" y="4034525"/>
            <a:ext cx="548640" cy="124166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02750" y="5148072"/>
            <a:ext cx="1070153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833659" y="2867366"/>
            <a:ext cx="548640" cy="2234986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33659" y="2867366"/>
            <a:ext cx="548640" cy="223498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833659" y="2743200"/>
            <a:ext cx="548640" cy="124166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72902" y="5148072"/>
            <a:ext cx="1070153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5833872"/>
            <a:ext cx="182880" cy="182880"/>
          </a:xfrm>
          <a:prstGeom prst="rect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" y="5815584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94560" y="5833872"/>
            <a:ext cx="182880" cy="182880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50592" y="5815584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  PROCESS_FLOW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プロセスの流れを段階で示す場合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8640" y="26289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20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28900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87268"/>
            <a:ext cx="245356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3707892"/>
            <a:ext cx="245356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65044" y="2628900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22244" y="26289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20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2244" y="2628900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22244" y="3287268"/>
            <a:ext cx="245356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322244" y="3707892"/>
            <a:ext cx="245356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38648" y="2628900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095848" y="26289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20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5848" y="2628900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5848" y="3287268"/>
            <a:ext cx="245356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095848" y="3707892"/>
            <a:ext cx="245356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251" y="2628900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869451" y="26289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20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451" y="2628900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69451" y="3287268"/>
            <a:ext cx="245356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869451" y="3707892"/>
            <a:ext cx="245356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  CYCLE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循環するサイクル構造を示す場合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2255368" y="2377440"/>
            <a:ext cx="7680960" cy="3200400"/>
          </a:xfrm>
          <a:prstGeom prst="ellipse">
            <a:avLst/>
          </a:prstGeom>
          <a:ln w="12700">
            <a:solidFill>
              <a:srgbClr val="E2DCD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rot="2160000">
            <a:off x="7330830" y="3083555"/>
            <a:ext cx="329184" cy="182880"/>
          </a:xfrm>
          <a:prstGeom prst="rightArrow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480000">
            <a:off x="8195814" y="4192783"/>
            <a:ext cx="329184" cy="182880"/>
          </a:xfrm>
          <a:prstGeom prst="rightArrow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931256" y="4878324"/>
            <a:ext cx="329184" cy="182880"/>
          </a:xfrm>
          <a:prstGeom prst="rightArrow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5120000">
            <a:off x="3666697" y="4192783"/>
            <a:ext cx="329184" cy="182880"/>
          </a:xfrm>
          <a:prstGeom prst="rightArrow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9440000">
            <a:off x="4531682" y="3083555"/>
            <a:ext cx="329184" cy="182880"/>
          </a:xfrm>
          <a:prstGeom prst="rightArrow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67248" y="18105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6724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07128" y="2395728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07128" y="2761488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19761" y="2916223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20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19761" y="2916223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59641" y="3501439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59641" y="3867199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24625" y="4705301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20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4625" y="4705301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64505" y="5290517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64505" y="5656277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09870" y="4705301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20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09870" y="4705301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49750" y="5290517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649750" y="5656277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14734" y="2916223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20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14734" y="2916223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54614" y="3501439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6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254614" y="3867199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  CHEVRON_RAIL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段階の進行をシェブロンで示す場合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8640" y="3168396"/>
            <a:ext cx="2538923" cy="1371600"/>
          </a:xfrm>
          <a:prstGeom prst="chevron">
            <a:avLst/>
          </a:prstGeom>
          <a:solidFill>
            <a:srgbClr val="EFE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653028"/>
            <a:ext cx="402336" cy="402336"/>
          </a:xfrm>
          <a:prstGeom prst="ellipse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53028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3552444"/>
            <a:ext cx="1578803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3863340"/>
            <a:ext cx="1578803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67523" y="3168396"/>
            <a:ext cx="2538923" cy="1371600"/>
          </a:xfrm>
          <a:prstGeom prst="chevron">
            <a:avLst/>
          </a:prstGeom>
          <a:solidFill>
            <a:srgbClr val="EFE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1843" y="3653028"/>
            <a:ext cx="402336" cy="402336"/>
          </a:xfrm>
          <a:prstGeom prst="ellipse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1843" y="3653028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44763" y="3552444"/>
            <a:ext cx="1578803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44763" y="3863340"/>
            <a:ext cx="1578803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86406" y="3168396"/>
            <a:ext cx="2538923" cy="1371600"/>
          </a:xfrm>
          <a:prstGeom prst="chevron">
            <a:avLst/>
          </a:prstGeom>
          <a:solidFill>
            <a:srgbClr val="EFE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60726" y="3653028"/>
            <a:ext cx="402336" cy="402336"/>
          </a:xfrm>
          <a:prstGeom prst="ellipse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0726" y="3653028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3646" y="3552444"/>
            <a:ext cx="1578803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3646" y="3863340"/>
            <a:ext cx="1578803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05289" y="3168396"/>
            <a:ext cx="2538923" cy="1371600"/>
          </a:xfrm>
          <a:prstGeom prst="chevron">
            <a:avLst/>
          </a:prstGeom>
          <a:solidFill>
            <a:srgbClr val="EFE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609" y="3653028"/>
            <a:ext cx="402336" cy="402336"/>
          </a:xfrm>
          <a:prstGeom prst="ellipse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9609" y="3653028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82529" y="3552444"/>
            <a:ext cx="1578803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82529" y="3863340"/>
            <a:ext cx="1578803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24172" y="3168396"/>
            <a:ext cx="2538923" cy="1371600"/>
          </a:xfrm>
          <a:prstGeom prst="chevron">
            <a:avLst/>
          </a:prstGeom>
          <a:solidFill>
            <a:srgbClr val="EFE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98492" y="3653028"/>
            <a:ext cx="402336" cy="402336"/>
          </a:xfrm>
          <a:prstGeom prst="ellipse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8492" y="3653028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201412" y="3552444"/>
            <a:ext cx="1578803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201412" y="3863340"/>
            <a:ext cx="1578803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  CHEVRON_VALUE_CHAIN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バリューチェーン全体を示す場合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94415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31136"/>
            <a:ext cx="1741671" cy="411480"/>
          </a:xfrm>
          <a:prstGeom prst="homePlate">
            <a:avLst/>
          </a:prstGeom>
          <a:solidFill>
            <a:srgbClr val="322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231136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7431" y="2231136"/>
            <a:ext cx="1741671" cy="411480"/>
          </a:xfrm>
          <a:prstGeom prst="chevron">
            <a:avLst/>
          </a:prstGeom>
          <a:solidFill>
            <a:srgbClr val="322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7159" y="2231136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66221" y="2231136"/>
            <a:ext cx="1741671" cy="411480"/>
          </a:xfrm>
          <a:prstGeom prst="chevron">
            <a:avLst/>
          </a:prstGeom>
          <a:solidFill>
            <a:srgbClr val="322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5949" y="2231136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25012" y="2231136"/>
            <a:ext cx="1741671" cy="411480"/>
          </a:xfrm>
          <a:prstGeom prst="chevron">
            <a:avLst/>
          </a:prstGeom>
          <a:solidFill>
            <a:srgbClr val="322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4740" y="2231136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83803" y="2231136"/>
            <a:ext cx="1741671" cy="411480"/>
          </a:xfrm>
          <a:prstGeom prst="chevron">
            <a:avLst/>
          </a:prstGeom>
          <a:solidFill>
            <a:srgbClr val="322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3531" y="2231136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42594" y="2231136"/>
            <a:ext cx="1741671" cy="411480"/>
          </a:xfrm>
          <a:prstGeom prst="chevron">
            <a:avLst/>
          </a:prstGeom>
          <a:solidFill>
            <a:srgbClr val="322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2322" y="2231136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901384" y="2231136"/>
            <a:ext cx="1741671" cy="411480"/>
          </a:xfrm>
          <a:prstGeom prst="chevron">
            <a:avLst/>
          </a:prstGeom>
          <a:solidFill>
            <a:srgbClr val="3220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11112" y="2231136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2752344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25719" y="2770632"/>
            <a:ext cx="0" cy="91440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35447" y="2752344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84509" y="2770632"/>
            <a:ext cx="0" cy="91440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237" y="2752344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43300" y="2770632"/>
            <a:ext cx="0" cy="91440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53028" y="2752344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02091" y="2770632"/>
            <a:ext cx="0" cy="91440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1819" y="2752344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60882" y="2770632"/>
            <a:ext cx="0" cy="91440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70610" y="2752344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919672" y="2770632"/>
            <a:ext cx="0" cy="91440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29400" y="2752344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3968496"/>
            <a:ext cx="11094415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279392"/>
            <a:ext cx="1741671" cy="411480"/>
          </a:xfrm>
          <a:prstGeom prst="homePlate">
            <a:avLst/>
          </a:prstGeom>
          <a:solidFill>
            <a:srgbClr val="C5A6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279392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107431" y="4279392"/>
            <a:ext cx="1741671" cy="411480"/>
          </a:xfrm>
          <a:prstGeom prst="chevron">
            <a:avLst/>
          </a:prstGeom>
          <a:solidFill>
            <a:srgbClr val="C5A6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17159" y="4279392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66221" y="4279392"/>
            <a:ext cx="1741671" cy="411480"/>
          </a:xfrm>
          <a:prstGeom prst="chevron">
            <a:avLst/>
          </a:prstGeom>
          <a:solidFill>
            <a:srgbClr val="C5A6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75949" y="4279392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225012" y="4279392"/>
            <a:ext cx="1741671" cy="411480"/>
          </a:xfrm>
          <a:prstGeom prst="chevron">
            <a:avLst/>
          </a:prstGeom>
          <a:solidFill>
            <a:srgbClr val="C5A6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740" y="4279392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83803" y="4279392"/>
            <a:ext cx="1741671" cy="411480"/>
          </a:xfrm>
          <a:prstGeom prst="chevron">
            <a:avLst/>
          </a:prstGeom>
          <a:solidFill>
            <a:srgbClr val="C5A6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93531" y="4279392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ラベル14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42594" y="4279392"/>
            <a:ext cx="1741671" cy="411480"/>
          </a:xfrm>
          <a:prstGeom prst="chevron">
            <a:avLst/>
          </a:prstGeom>
          <a:solidFill>
            <a:srgbClr val="C5A6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52322" y="4279392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901384" y="4279392"/>
            <a:ext cx="1741671" cy="411480"/>
          </a:xfrm>
          <a:prstGeom prst="chevron">
            <a:avLst/>
          </a:prstGeom>
          <a:solidFill>
            <a:srgbClr val="C5A6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11112" y="4279392"/>
            <a:ext cx="1375911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ラベル16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66928" y="4800600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125719" y="4818888"/>
            <a:ext cx="0" cy="91440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35447" y="4800600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84509" y="4818888"/>
            <a:ext cx="0" cy="91440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94237" y="4800600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243300" y="4818888"/>
            <a:ext cx="0" cy="91440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53028" y="4800600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02091" y="4818888"/>
            <a:ext cx="0" cy="91440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11819" y="4800600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360882" y="4818888"/>
            <a:ext cx="0" cy="91440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70610" y="4800600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919672" y="4818888"/>
            <a:ext cx="0" cy="91440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29400" y="4800600"/>
            <a:ext cx="1284471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  DECISION_FORK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分岐する選択肢と判断を示す場合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8640" y="2884932"/>
            <a:ext cx="54864" cy="1280160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930652"/>
            <a:ext cx="3767328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 1：検討すべき問いを記載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846320" y="2665476"/>
            <a:ext cx="0" cy="237744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2665476"/>
            <a:ext cx="274320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2153412"/>
            <a:ext cx="6522415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C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2263140"/>
            <a:ext cx="606521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349240" y="2574036"/>
            <a:ext cx="6065215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2921508"/>
            <a:ext cx="6065215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854196"/>
            <a:ext cx="274320" cy="0"/>
          </a:xfrm>
          <a:prstGeom prst="line">
            <a:avLst/>
          </a:prstGeom>
          <a:noFill/>
          <a:ln w="20320">
            <a:solidFill>
              <a:srgbClr val="5A392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3342132"/>
            <a:ext cx="6522415" cy="1024128"/>
          </a:xfrm>
          <a:prstGeom prst="rect">
            <a:avLst/>
          </a:prstGeom>
          <a:solidFill>
            <a:srgbClr val="FFFFFF"/>
          </a:solidFill>
          <a:ln w="20320">
            <a:solidFill>
              <a:srgbClr val="5A39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3451860"/>
            <a:ext cx="606521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49240" y="3762756"/>
            <a:ext cx="6065215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4110228"/>
            <a:ext cx="6065215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5042916"/>
            <a:ext cx="274320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4530852"/>
            <a:ext cx="6522415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C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4640580"/>
            <a:ext cx="606521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49240" y="4951476"/>
            <a:ext cx="6065215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5298948"/>
            <a:ext cx="6065215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 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実行ロードマップを示す場合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8640" y="2574036"/>
            <a:ext cx="2755316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784348"/>
            <a:ext cx="254500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" y="3332988"/>
            <a:ext cx="24992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322244" y="2574036"/>
            <a:ext cx="2755316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2244" y="2574036"/>
            <a:ext cx="0" cy="256032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0260" y="2784348"/>
            <a:ext cx="254500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50260" y="3332988"/>
            <a:ext cx="24992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095848" y="2574036"/>
            <a:ext cx="2755316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5848" y="2574036"/>
            <a:ext cx="0" cy="256032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3864" y="2784348"/>
            <a:ext cx="254500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23864" y="3332988"/>
            <a:ext cx="24992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869451" y="2574036"/>
            <a:ext cx="2755316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451" y="2574036"/>
            <a:ext cx="0" cy="256032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97467" y="2784348"/>
            <a:ext cx="254500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97467" y="3332988"/>
            <a:ext cx="24992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  GANTT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スケジュールをガントチャートで示す場合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3749040" y="1828800"/>
            <a:ext cx="5920511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828800"/>
            <a:ext cx="5920511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69551" y="1828800"/>
            <a:ext cx="197350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69551" y="1828800"/>
            <a:ext cx="197350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2157984"/>
            <a:ext cx="65783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06875" y="2157984"/>
            <a:ext cx="65783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64709" y="2157984"/>
            <a:ext cx="65783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22544" y="2157984"/>
            <a:ext cx="65783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0378" y="2157984"/>
            <a:ext cx="65783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38213" y="2157984"/>
            <a:ext cx="65783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96048" y="2157984"/>
            <a:ext cx="65783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53882" y="2157984"/>
            <a:ext cx="65783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11717" y="2157984"/>
            <a:ext cx="65783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69551" y="2157984"/>
            <a:ext cx="65783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327386" y="2157984"/>
            <a:ext cx="65783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85221" y="2157984"/>
            <a:ext cx="65783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2468880"/>
            <a:ext cx="11094415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86517" y="2542032"/>
            <a:ext cx="182880" cy="164592"/>
          </a:xfrm>
          <a:prstGeom prst="triangle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9277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2187" y="2542032"/>
            <a:ext cx="182880" cy="164592"/>
          </a:xfrm>
          <a:prstGeom prst="triangle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4947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75690" y="2542032"/>
            <a:ext cx="182880" cy="164592"/>
          </a:xfrm>
          <a:prstGeom prst="triangle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8450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249194" y="2542032"/>
            <a:ext cx="182880" cy="164592"/>
          </a:xfrm>
          <a:prstGeom prst="triangle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71954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222698" y="2542032"/>
            <a:ext cx="182880" cy="164592"/>
          </a:xfrm>
          <a:prstGeom prst="triangle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45458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06875" y="2468880"/>
            <a:ext cx="0" cy="3502152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64709" y="2468880"/>
            <a:ext cx="0" cy="3502152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22544" y="2468880"/>
            <a:ext cx="0" cy="3502152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80378" y="2468880"/>
            <a:ext cx="0" cy="3502152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38213" y="2468880"/>
            <a:ext cx="0" cy="3502152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96048" y="2468880"/>
            <a:ext cx="0" cy="3502152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53882" y="2468880"/>
            <a:ext cx="0" cy="3502152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11717" y="2468880"/>
            <a:ext cx="0" cy="3502152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69551" y="2468880"/>
            <a:ext cx="0" cy="3502152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27386" y="2468880"/>
            <a:ext cx="0" cy="3502152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85221" y="2468880"/>
            <a:ext cx="0" cy="3502152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017520"/>
            <a:ext cx="12801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3017520"/>
            <a:ext cx="11094415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20240" y="3017520"/>
            <a:ext cx="17373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ラベル21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785616" y="3127901"/>
            <a:ext cx="584683" cy="201168"/>
          </a:xfrm>
          <a:prstGeom prst="roundRect">
            <a:avLst>
              <a:gd name="adj" fmla="val 18182"/>
            </a:avLst>
          </a:prstGeom>
          <a:solidFill>
            <a:srgbClr val="C5A681"/>
          </a:solidFill>
          <a:ln w="12700">
            <a:solidFill>
              <a:srgbClr val="C5A6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439450"/>
            <a:ext cx="12801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ラベル22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" y="3439450"/>
            <a:ext cx="11094415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20240" y="3439450"/>
            <a:ext cx="17373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ラベル23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443451" y="3549831"/>
            <a:ext cx="1242517" cy="201168"/>
          </a:xfrm>
          <a:prstGeom prst="roundRect">
            <a:avLst>
              <a:gd name="adj" fmla="val 18182"/>
            </a:avLst>
          </a:prstGeom>
          <a:solidFill>
            <a:srgbClr val="C5A681"/>
          </a:solidFill>
          <a:ln w="12700">
            <a:solidFill>
              <a:srgbClr val="C5A6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861381"/>
            <a:ext cx="12801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ラベル24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48640" y="3861381"/>
            <a:ext cx="11094415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20240" y="3861381"/>
            <a:ext cx="17373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ラベル25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101285" y="3971762"/>
            <a:ext cx="584683" cy="201168"/>
          </a:xfrm>
          <a:prstGeom prst="roundRect">
            <a:avLst>
              <a:gd name="adj" fmla="val 18182"/>
            </a:avLst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283311"/>
            <a:ext cx="12801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ラベル26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48640" y="4283311"/>
            <a:ext cx="11094415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20240" y="4283311"/>
            <a:ext cx="17373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ラベル27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759120" y="4393692"/>
            <a:ext cx="1242517" cy="201168"/>
          </a:xfrm>
          <a:prstGeom prst="roundRect">
            <a:avLst>
              <a:gd name="adj" fmla="val 18182"/>
            </a:avLst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705241"/>
            <a:ext cx="12801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ラベル28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48640" y="4705241"/>
            <a:ext cx="11094415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20240" y="4705241"/>
            <a:ext cx="17373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ラベル29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416954" y="4815622"/>
            <a:ext cx="1242517" cy="201168"/>
          </a:xfrm>
          <a:prstGeom prst="roundRect">
            <a:avLst>
              <a:gd name="adj" fmla="val 18182"/>
            </a:avLst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5127171"/>
            <a:ext cx="12801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48640" y="5127171"/>
            <a:ext cx="11094415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920240" y="5127171"/>
            <a:ext cx="17373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ラベル31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048293" y="5237553"/>
            <a:ext cx="1242517" cy="201168"/>
          </a:xfrm>
          <a:prstGeom prst="roundRect">
            <a:avLst>
              <a:gd name="adj" fmla="val 18182"/>
            </a:avLst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5549102"/>
            <a:ext cx="12801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ラベル32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48640" y="5549102"/>
            <a:ext cx="11094415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920240" y="5549102"/>
            <a:ext cx="1737360" cy="4219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ラベル33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10363962" y="5659483"/>
            <a:ext cx="1242517" cy="201168"/>
          </a:xfrm>
          <a:prstGeom prst="rightArrow">
            <a:avLst/>
          </a:prstGeom>
          <a:solidFill>
            <a:srgbClr val="322014"/>
          </a:solidFill>
          <a:ln w="12700">
            <a:solidFill>
              <a:srgbClr val="322014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  DECISION_PAGE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意思決定を求める場合（決めること・前提・依頼）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6245352"/>
            <a:ext cx="11094415" cy="0"/>
          </a:xfrm>
          <a:prstGeom prst="line">
            <a:avLst/>
          </a:prstGeom>
          <a:noFill/>
          <a:ln w="8890">
            <a:solidFill>
              <a:srgbClr val="3220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185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資料：出典を記載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68735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212080" cy="0"/>
          </a:xfrm>
          <a:prstGeom prst="line">
            <a:avLst/>
          </a:prstGeom>
          <a:noFill/>
          <a:ln w="27940">
            <a:solidFill>
              <a:srgbClr val="5A39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90672"/>
            <a:ext cx="21945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RECOMMENDED DECISION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456432"/>
            <a:ext cx="530352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2907792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907792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3392424"/>
            <a:ext cx="507492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621024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3621024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4105656"/>
            <a:ext cx="507492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334256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4334256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4818888"/>
            <a:ext cx="507492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Consulting Slide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スーパーテンプレ</dc:title>
  <dc:subject>Editable synthetic consulting deck generated from SlideSpec</dc:subject>
  <dc:creator>Consulting Slide Lab</dc:creator>
  <cp:lastModifiedBy>Consulting Slide Lab</cp:lastModifiedBy>
  <cp:revision>1</cp:revision>
  <dcterms:created xsi:type="dcterms:W3CDTF">2026-09-01T15:15:27Z</dcterms:created>
  <dcterms:modified xsi:type="dcterms:W3CDTF">2026-09-01T15:15:27Z</dcterms:modified>
</cp:coreProperties>
</file>