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257" r:id="rId3"/>
    <p:sldId id="258" r:id="rId4"/>
    <p:sldId id="300" r:id="rId51"/>
    <p:sldId id="301" r:id="rId52"/>
    <p:sldId id="302" r:id="rId53"/>
    <p:sldId id="261" r:id="rId7"/>
    <p:sldId id="262" r:id="rId8"/>
    <p:sldId id="263" r:id="rId9"/>
    <p:sldId id="264" r:id="rId10"/>
    <p:sldId id="265" r:id="rId11"/>
    <p:sldId id="303" r:id="rId54"/>
    <p:sldId id="304" r:id="rId55"/>
    <p:sldId id="305" r:id="rId56"/>
    <p:sldId id="306" r:id="rId57"/>
    <p:sldId id="307" r:id="rId58"/>
    <p:sldId id="259" r:id="rId5"/>
    <p:sldId id="260" r:id="rId6"/>
    <p:sldId id="308" r:id="rId59"/>
    <p:sldId id="309" r:id="rId60"/>
    <p:sldId id="266" r:id="rId12"/>
    <p:sldId id="267" r:id="rId13"/>
    <p:sldId id="268" r:id="rId14"/>
    <p:sldId id="269" r:id="rId15"/>
    <p:sldId id="270" r:id="rId16"/>
    <p:sldId id="271" r:id="rId17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272" r:id="rId18"/>
    <p:sldId id="273" r:id="rId19"/>
    <p:sldId id="274" r:id="rId20"/>
    <p:sldId id="281" r:id="rId27"/>
    <p:sldId id="278" r:id="rId24"/>
    <p:sldId id="279" r:id="rId25"/>
    <p:sldId id="318" r:id="rId69"/>
    <p:sldId id="280" r:id="rId26"/>
    <p:sldId id="282" r:id="rId28"/>
    <p:sldId id="283" r:id="rId29"/>
    <p:sldId id="319" r:id="rId70"/>
    <p:sldId id="320" r:id="rId71"/>
    <p:sldId id="321" r:id="rId72"/>
    <p:sldId id="284" r:id="rId30"/>
    <p:sldId id="285" r:id="rId31"/>
    <p:sldId id="286" r:id="rId32"/>
    <p:sldId id="322" r:id="rId73"/>
    <p:sldId id="287" r:id="rId33"/>
    <p:sldId id="288" r:id="rId34"/>
    <p:sldId id="323" r:id="rId74"/>
    <p:sldId id="289" r:id="rId35"/>
    <p:sldId id="290" r:id="rId36"/>
    <p:sldId id="324" r:id="rId75"/>
    <p:sldId id="275" r:id="rId21"/>
    <p:sldId id="276" r:id="rId22"/>
    <p:sldId id="277" r:id="rId23"/>
    <p:sldId id="325" r:id="rId76"/>
    <p:sldId id="326" r:id="rId77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索引：カタログの構成ページ（画像）。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章扉 A 枠組み：カタログの構成ページ（画像）。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パーツ01 表紙：HTML経路（templates/freeform_parts_16x9.html）のパーツを画像で収録。編集する場合はHTML側のパーツをコピーして組む。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パーツ02 全体マップ：HTML経路（templates/freeform_parts_16x9.html）のパーツを画像で収録。編集する場合はHTML側のパーツをコピーして組む。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パーツ03 目次：HTML経路（templates/freeform_parts_16x9.html）のパーツを画像で収録。編集する場合はHTML側のパーツをコピーして組む。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パーツ04 章扉：HTML経路（templates/freeform_parts_16x9.html）のパーツを画像で収録。編集する場合はHTML側のパーツをコピーして組む。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パーツ27 セパレーター（アジェンダ再掲）：HTML経路（templates/freeform_parts_16x9.html）のパーツを画像で収録。編集する場合はHTML側のパーツをコピーして組む。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パーツ25 調査の土台：HTML経路（templates/freeform_parts_16x9.html）のパーツを画像で収録。編集する場合はHTML側のパーツをコピーして組む。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パーツ10 裏表紙：HTML経路（templates/freeform_parts_16x9.html）のパーツを画像で収録。編集する場合はHTML側のパーツをコピーして組む。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章扉 B 数字で証明：カタログの構成ページ（画像）。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パーツ24 シナリオ線＋成長率チップ：HTML経路（templates/freeform_parts_16x9.html）のパーツを画像で収録。編集する場合はHTML側のパーツをコピーして組む。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パーツ23 増減の縦棒＋左右合計：HTML経路（templates/freeform_parts_16x9.html）のパーツを画像で収録。編集する場合はHTML側のパーツをコピーして組む。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パーツ22 比例円の対比：HTML経路（templates/freeform_parts_16x9.html）のパーツを画像で収録。編集する場合はHTML側のパーツをコピーして組む。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パーツ17 分布の順位棒＋注記：HTML経路（templates/freeform_parts_16x9.html）のパーツを画像で収録。編集する場合はHTML側のパーツをコピーして組む。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パーツ18 注記つき散布図：HTML経路（templates/freeform_parts_16x9.html）のパーツを画像で収録。編集する場合はHTML側のパーツをコピーして組む。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パーツ07 大型数値の表＋読み取り：HTML経路（templates/freeform_parts_16x9.html）のパーツを画像で収録。編集する場合はHTML側のパーツをコピーして組む。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章扉 C 比較・評価：カタログの構成ページ（画像）。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パーツ09 軸のある表：HTML経路（templates/freeform_parts_16x9.html）のパーツを画像で収録。編集する場合はHTML側のパーツをコピーして組む。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パーツ14 充足度評価表（ハーベイボール）：HTML経路（templates/freeform_parts_16x9.html）のパーツを画像で収録。編集する場合はHTML側のパーツをコピーして組む。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パーツ13 状態ヒートマップ＋右コメント：HTML経路（templates/freeform_parts_16x9.html）のパーツを画像で収録。編集する場合はHTML側のパーツをコピーして組む。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パーツ12 打ち手の効果表：HTML経路（templates/freeform_parts_16x9.html）のパーツを画像で収録。編集する場合はHTML側のパーツをコピーして組む。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パーツ16 進捗バブル行列：HTML経路（templates/freeform_parts_16x9.html）のパーツを画像で収録。編集する場合はHTML側のパーツをコピーして組む。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パーツ15 割合のドットマトリクス：HTML経路（templates/freeform_parts_16x9.html）のパーツを画像で収録。編集する場合はHTML側のパーツをコピーして組む。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章扉 D 構造で通す：カタログの構成ページ（画像）。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パーツ11 主張パネル＋図：HTML経路（templates/freeform_parts_16x9.html）のパーツを画像で収録。編集する場合はHTML側のパーツをコピーして組む。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パーツ26 課題と打ち手の2カラム：HTML経路（templates/freeform_parts_16x9.html）のパーツを画像で収録。編集する場合はHTML側のパーツをコピーして組む。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パーツ19 柱＋土台：HTML経路（templates/freeform_parts_16x9.html）のパーツを画像で収録。編集する場合はHTML側のパーツをコピーして組む。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パーツ20 対向シェブロン：HTML経路（templates/freeform_parts_16x9.html）のパーツを画像で収録。編集する場合はHTML側のパーツをコピーして組む。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章扉 E 進め方・計画：カタログの構成ページ（画像）。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パーツ05 矢羽（プロセス・変遷）：HTML経路（templates/freeform_parts_16x9.html）のパーツを画像で収録。編集する場合はHTML側のパーツをコピーして組む。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パーツ06 前提→帰結の2カラム：HTML経路（templates/freeform_parts_16x9.html）のパーツを画像で収録。編集する場合はHTML側のパーツをコピーして組む。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章扉 F 提示・締め：カタログの構成ページ（画像）。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パーツ08 並列カード 2×2：HTML経路（templates/freeform_parts_16x9.html）のパーツを画像で収録。編集する場合はHTML側のパーツをコピーして組む。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パーツ21 外部動向の根拠グリッド：HTML経路（templates/freeform_parts_16x9.html）のパーツを画像で収録。編集する場合はHTML側のパーツをコピーして組む。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8778240" y="-411480"/>
            <a:ext cx="4480560" cy="4480560"/>
          </a:xfrm>
          <a:prstGeom prst="rect">
            <a:avLst/>
          </a:prstGeom>
          <a:ln w="8890">
            <a:solidFill>
              <a:srgbClr val="C5A681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SUPER TEMPLATE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5146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スーパーテンプレ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76072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SlideSpec 36型の見本帳 | 型は発想帳。合わなければ自由記述パーツで組む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EXECUTIVE_SUMMARY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6072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168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02168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6" name="TextBox 15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EVIDENCE_BASIS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調査の土台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363724"/>
            <a:ext cx="33832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63724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73952" y="2436876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99432" y="3003804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3150108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3223260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9432" y="3790188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936492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4009644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9432" y="4576572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4722876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73952" y="4796028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9432" y="5362956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3" name="TextBox 22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BIG_STAT_PAIR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大型数値の対比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9339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76148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76072" y="431596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509320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61608" y="276148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461608" y="431596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1608" y="509320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KPI_DASHBOARD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KPI一覧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80360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-18%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6072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7400" y="2880360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7400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7400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days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7400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7400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880360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728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8728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78728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8728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0055" y="2880360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0055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30055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$6M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30055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30055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CHART_INSIGHT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単一チャート＋含意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99032" y="4442723"/>
            <a:ext cx="566928" cy="113511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4214123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4123471"/>
            <a:ext cx="566928" cy="1454369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3894871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199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02152" y="3839692"/>
            <a:ext cx="566928" cy="173814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3611092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53712" y="3520440"/>
            <a:ext cx="566928" cy="205740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4507992" y="3291840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2511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" y="5577840"/>
            <a:ext cx="576072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057400"/>
            <a:ext cx="0" cy="141732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2057400"/>
            <a:ext cx="418795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2560320"/>
            <a:ext cx="418795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STACKED_BAR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積み上げ棒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04517" y="4642175"/>
            <a:ext cx="1188720" cy="935665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2004517" y="5000279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04517" y="3940426"/>
            <a:ext cx="1188720" cy="70174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4" name="Text 12"/>
          <p:cNvSpPr/>
          <p:nvPr/>
        </p:nvSpPr>
        <p:spPr>
          <a:xfrm>
            <a:off x="2004517" y="418157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04517" y="3472593"/>
            <a:ext cx="1188720" cy="467833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16" name="Text 14"/>
          <p:cNvSpPr/>
          <p:nvPr/>
        </p:nvSpPr>
        <p:spPr>
          <a:xfrm>
            <a:off x="2004517" y="359678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1637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1488" y="4291300"/>
            <a:ext cx="1188720" cy="128654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9" name="Text 17"/>
          <p:cNvSpPr/>
          <p:nvPr/>
        </p:nvSpPr>
        <p:spPr>
          <a:xfrm>
            <a:off x="5501488" y="482484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01488" y="3542768"/>
            <a:ext cx="1188720" cy="748532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5501488" y="3807306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01488" y="3028153"/>
            <a:ext cx="1188720" cy="514616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3" name="Text 21"/>
          <p:cNvSpPr/>
          <p:nvPr/>
        </p:nvSpPr>
        <p:spPr>
          <a:xfrm>
            <a:off x="5501488" y="317573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1860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8458" y="3893643"/>
            <a:ext cx="1188720" cy="168419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6" name="Text 24"/>
          <p:cNvSpPr/>
          <p:nvPr/>
        </p:nvSpPr>
        <p:spPr>
          <a:xfrm>
            <a:off x="8998458" y="462601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8458" y="3121719"/>
            <a:ext cx="1188720" cy="77192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8" name="Text 26"/>
          <p:cNvSpPr/>
          <p:nvPr/>
        </p:nvSpPr>
        <p:spPr>
          <a:xfrm>
            <a:off x="8998458" y="339795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98458" y="2560320"/>
            <a:ext cx="1188720" cy="561399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30" name="Text 28"/>
          <p:cNvSpPr/>
          <p:nvPr/>
        </p:nvSpPr>
        <p:spPr>
          <a:xfrm>
            <a:off x="8998458" y="273129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1557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943600"/>
            <a:ext cx="201168" cy="20116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04872" y="5943600"/>
            <a:ext cx="201168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33672" y="5943600"/>
            <a:ext cx="201168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寄与度ブリッジ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108269"/>
            <a:ext cx="603504" cy="1469571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7052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828800" y="5313317"/>
            <a:ext cx="603504" cy="264523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5" name="Text 13"/>
          <p:cNvSpPr/>
          <p:nvPr/>
        </p:nvSpPr>
        <p:spPr>
          <a:xfrm>
            <a:off x="1755648" y="5075573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852928" y="5225143"/>
            <a:ext cx="603504" cy="352697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2779776" y="4987399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88336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77056" y="5445579"/>
            <a:ext cx="603504" cy="132261"/>
          </a:xfrm>
          <a:prstGeom prst="rect">
            <a:avLst/>
          </a:prstGeom>
          <a:solidFill>
            <a:srgbClr val="A22727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520783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12464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901184" y="5474970"/>
            <a:ext cx="603504" cy="10287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523722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925312" y="3520440"/>
            <a:ext cx="603504" cy="205740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328269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76072" y="5577840"/>
            <a:ext cx="585216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965960"/>
            <a:ext cx="0" cy="132588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65960"/>
            <a:ext cx="409651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2468880"/>
            <a:ext cx="409651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TRUE_WATERFALL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増減ブリッジ（厳密）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96563" y="3364992"/>
            <a:ext cx="1005840" cy="221284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213683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2243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4745" y="3364992"/>
            <a:ext cx="1005840" cy="603504"/>
          </a:xfrm>
          <a:prstGeom prst="rect">
            <a:avLst/>
          </a:prstGeom>
          <a:solidFill>
            <a:srgbClr val="A22727"/>
          </a:solidFill>
          <a:ln/>
        </p:spPr>
      </p:sp>
      <p:sp>
        <p:nvSpPr>
          <p:cNvPr id="15" name="Text 13"/>
          <p:cNvSpPr/>
          <p:nvPr/>
        </p:nvSpPr>
        <p:spPr>
          <a:xfrm>
            <a:off x="3311865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20425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92928" y="3163824"/>
            <a:ext cx="1005840" cy="804672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5410048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860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91110" y="2560320"/>
            <a:ext cx="1005840" cy="60350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7508230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1679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89292" y="2560320"/>
            <a:ext cx="1005840" cy="301752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4" name="Text 22"/>
          <p:cNvSpPr/>
          <p:nvPr/>
        </p:nvSpPr>
        <p:spPr>
          <a:xfrm>
            <a:off x="9606412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14972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5577840"/>
            <a:ext cx="11039551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7" name="TextBox 26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SMALL_MULTIPLES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小図の並列比較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" y="2322576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9335" y="3226728"/>
            <a:ext cx="457200" cy="39886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3060" y="2927578"/>
            <a:ext cx="457200" cy="69801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5" name="Text 13"/>
          <p:cNvSpPr/>
          <p:nvPr/>
        </p:nvSpPr>
        <p:spPr>
          <a:xfrm>
            <a:off x="2339797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6785" y="2468880"/>
            <a:ext cx="457200" cy="115671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7" name="Text 15"/>
          <p:cNvSpPr/>
          <p:nvPr/>
        </p:nvSpPr>
        <p:spPr>
          <a:xfrm>
            <a:off x="410352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4448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2322576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7710" y="3326445"/>
            <a:ext cx="457200" cy="299151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41435" y="3067181"/>
            <a:ext cx="457200" cy="558415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3" name="Text 21"/>
          <p:cNvSpPr/>
          <p:nvPr/>
        </p:nvSpPr>
        <p:spPr>
          <a:xfrm>
            <a:off x="8088173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05161" y="2748087"/>
            <a:ext cx="457200" cy="877509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5" name="Text 23"/>
          <p:cNvSpPr/>
          <p:nvPr/>
        </p:nvSpPr>
        <p:spPr>
          <a:xfrm>
            <a:off x="985189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649724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29335" y="5793197"/>
            <a:ext cx="457200" cy="15954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93060" y="5673537"/>
            <a:ext cx="457200" cy="27920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1" name="Text 29"/>
          <p:cNvSpPr/>
          <p:nvPr/>
        </p:nvSpPr>
        <p:spPr>
          <a:xfrm>
            <a:off x="2339797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6785" y="5494046"/>
            <a:ext cx="457200" cy="45869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3" name="Text 31"/>
          <p:cNvSpPr/>
          <p:nvPr/>
        </p:nvSpPr>
        <p:spPr>
          <a:xfrm>
            <a:off x="410352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4448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4448" y="4649724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7710" y="5713423"/>
            <a:ext cx="457200" cy="239321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7" name="Text 35"/>
          <p:cNvSpPr/>
          <p:nvPr/>
        </p:nvSpPr>
        <p:spPr>
          <a:xfrm>
            <a:off x="632444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41435" y="5513990"/>
            <a:ext cx="457200" cy="438754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9" name="Text 37"/>
          <p:cNvSpPr/>
          <p:nvPr/>
        </p:nvSpPr>
        <p:spPr>
          <a:xfrm>
            <a:off x="8088173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505161" y="5214839"/>
            <a:ext cx="457200" cy="737905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41" name="Text 39"/>
          <p:cNvSpPr/>
          <p:nvPr/>
        </p:nvSpPr>
        <p:spPr>
          <a:xfrm>
            <a:off x="985189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COMPARISON_TABLE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選択肢の比較表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評価軸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競合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含意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SCENARIO_TABLE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シナリオ比較表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注：前提・注記を記載 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3931920"/>
                <a:gridCol w="38679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経営への含意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前提1-1：TextをTextと置く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前提1-2：Textは変わらないとする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1をText 2まで積み増す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前提2-1：TextをTextと置く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前提2-2：Textは変わらないとする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4をText 5まで積み増す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前提3-1：TextをTextと置く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前提3-2：Textは変わらないとする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7をText 8まで積み増す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9の判断をN月に前倒す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RISK_TABLE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リスク一覧表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45720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兆候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対応策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8の代替案を用意する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9がNを下回る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10のNがNか月続く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11を先に確保する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12の代替案を用意する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HORIZONTAL_AXIS_TABLE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横軸評価表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75688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網掛けの行＝Text 1（この行だけ立てている理由を1行で）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404872"/>
            <a:ext cx="11039551" cy="0"/>
          </a:xfrm>
          <a:prstGeom prst="line">
            <a:avLst/>
          </a:prstGeom>
          <a:noFill/>
          <a:ln w="7620">
            <a:solidFill>
              <a:srgbClr val="8A7B6B"/>
            </a:solidFill>
            <a:prstDash val="sysDot"/>
          </a:ln>
        </p:spPr>
      </p:sp>
      <p:sp>
        <p:nvSpPr>
          <p:cNvPr id="12" name="Text 10"/>
          <p:cNvSpPr/>
          <p:nvPr/>
        </p:nvSpPr>
        <p:spPr>
          <a:xfrm>
            <a:off x="576072" y="2578608"/>
            <a:ext cx="13048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926080"/>
            <a:ext cx="1304814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3766" y="2578608"/>
            <a:ext cx="274011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63766" y="2926080"/>
            <a:ext cx="2740110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6756" y="2578608"/>
            <a:ext cx="300107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6756" y="2926080"/>
            <a:ext cx="3001072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0708" y="2578608"/>
            <a:ext cx="1565777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0708" y="2926080"/>
            <a:ext cx="1565777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9365" y="2578608"/>
            <a:ext cx="16962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19365" y="2926080"/>
            <a:ext cx="1696258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044952"/>
            <a:ext cx="11130991" cy="832104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11810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63766" y="311810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6756" y="311810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70708" y="311810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19365" y="311810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" y="391363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76072" y="398678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63766" y="398678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6756" y="398678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70708" y="398678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19365" y="398678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" y="47823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76072" y="485546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63766" y="485546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6756" y="485546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70708" y="485546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919365" y="485546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6072" y="565099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41" name="TextBox 40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HEATMAP_TABLE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ヒートマップ表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53512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53512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9040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9040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4568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568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0095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50095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66090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1" name="Text 19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3" name="Text 21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5" name="Text 23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27" name="Text 25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30" name="Text 28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2" name="Text 30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6" name="Text 34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60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9" name="Text 37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1" name="Text 39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43" name="Text 41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5" name="Text 43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6072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48" name="Text 46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50" name="Text 48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54" name="Text 52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76072" y="5577840"/>
            <a:ext cx="201168" cy="2011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96312" y="5577840"/>
            <a:ext cx="201168" cy="2011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58" name="Text 56"/>
          <p:cNvSpPr/>
          <p:nvPr/>
        </p:nvSpPr>
        <p:spPr>
          <a:xfrm>
            <a:off x="278892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16552" y="5577840"/>
            <a:ext cx="201168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36792" y="5577840"/>
            <a:ext cx="201168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2" name="Text 60"/>
          <p:cNvSpPr/>
          <p:nvPr/>
        </p:nvSpPr>
        <p:spPr>
          <a:xfrm>
            <a:off x="662940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100" dirty="0"/>
          </a:p>
        </p:txBody>
      </p:sp>
      <p:sp>
        <p:nvSpPr>
          <p:cNvPr id="63" name="TextBox 62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 MATRIX_2X2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2×2マトリクス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5678424"/>
            <a:ext cx="621792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066544"/>
            <a:ext cx="0" cy="361188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066544"/>
            <a:ext cx="0" cy="361188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872484"/>
            <a:ext cx="6217920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92224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縦軸名（上ほど高い）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67912" y="5733288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横軸名（右ほど高い）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2622" y="2768803"/>
            <a:ext cx="1060704" cy="32918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7" name="Text 15"/>
          <p:cNvSpPr/>
          <p:nvPr/>
        </p:nvSpPr>
        <p:spPr>
          <a:xfrm>
            <a:off x="4568342" y="281452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施策1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4273906" y="3418942"/>
            <a:ext cx="1060704" cy="329184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9" name="Text 17"/>
          <p:cNvSpPr/>
          <p:nvPr/>
        </p:nvSpPr>
        <p:spPr>
          <a:xfrm>
            <a:off x="4319626" y="3464662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施策2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2221992" y="3021635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3067355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施策3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2905963" y="4141318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1683" y="4187038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施策4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1475842" y="4574743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21562" y="462046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施策5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7315200" y="2130552"/>
            <a:ext cx="4023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29" name="TextBox 28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 PROCESS_MATRIX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プロセス×観点の行列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80260"/>
            <a:ext cx="2194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行の軸名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70632" y="2080260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2409444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8962" y="2080260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8962" y="2409444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293" y="2080260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67293" y="2409444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76606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258318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9" name="Text 17"/>
          <p:cNvSpPr/>
          <p:nvPr/>
        </p:nvSpPr>
        <p:spPr>
          <a:xfrm>
            <a:off x="2935224" y="272948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8962" y="258318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1" name="Text 19"/>
          <p:cNvSpPr/>
          <p:nvPr/>
        </p:nvSpPr>
        <p:spPr>
          <a:xfrm>
            <a:off x="5883554" y="272948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" y="381762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363474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4" name="Text 22"/>
          <p:cNvSpPr/>
          <p:nvPr/>
        </p:nvSpPr>
        <p:spPr>
          <a:xfrm>
            <a:off x="2935224" y="378104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8962" y="363474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6" name="Text 24"/>
          <p:cNvSpPr/>
          <p:nvPr/>
        </p:nvSpPr>
        <p:spPr>
          <a:xfrm>
            <a:off x="5883554" y="378104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" y="4869180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行見出し3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70632" y="468630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9" name="Text 27"/>
          <p:cNvSpPr/>
          <p:nvPr/>
        </p:nvSpPr>
        <p:spPr>
          <a:xfrm>
            <a:off x="2935224" y="483260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18962" y="468630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1" name="Text 29"/>
          <p:cNvSpPr/>
          <p:nvPr/>
        </p:nvSpPr>
        <p:spPr>
          <a:xfrm>
            <a:off x="5883554" y="483260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67293" y="4686300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3" name="Text 31"/>
          <p:cNvSpPr/>
          <p:nvPr/>
        </p:nvSpPr>
        <p:spPr>
          <a:xfrm>
            <a:off x="8831885" y="4832604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150" dirty="0"/>
          </a:p>
        </p:txBody>
      </p:sp>
      <p:sp>
        <p:nvSpPr>
          <p:cNvPr id="34" name="TextBox 33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 NESTED_ROW_MATRIX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入れ子行の行列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大分類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79192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小分類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39512" y="1847088"/>
            <a:ext cx="637611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2176272"/>
            <a:ext cx="11039551" cy="0"/>
          </a:xfrm>
          <a:prstGeom prst="line">
            <a:avLst/>
          </a:prstGeom>
          <a:noFill/>
          <a:ln w="15240">
            <a:solidFill>
              <a:srgbClr val="3220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286000"/>
            <a:ext cx="0" cy="2236622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86000"/>
            <a:ext cx="1883664" cy="22366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9192" y="2304288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2322576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79192" y="3019349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3092501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9512" y="3110789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79192" y="3807562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3880714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899002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" y="4650638"/>
            <a:ext cx="0" cy="144841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650638"/>
            <a:ext cx="1883664" cy="14484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76072" y="4595774"/>
            <a:ext cx="11039551" cy="0"/>
          </a:xfrm>
          <a:prstGeom prst="line">
            <a:avLst/>
          </a:prstGeom>
          <a:noFill/>
          <a:ln w="11430">
            <a:solidFill>
              <a:srgbClr val="8A7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4668926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9512" y="4687214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79192" y="5383987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9192" y="5457139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5475427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150" dirty="0"/>
          </a:p>
        </p:txBody>
      </p:sp>
      <p:sp>
        <p:nvSpPr>
          <p:cNvPr id="32" name="TextBox 31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 TIMELINE_MATRIX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時系列マトリクス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587752"/>
            <a:ext cx="16459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04872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512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75122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5373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列見出し3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5373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0487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7512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5373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6393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76072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0487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512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5373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5537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76072" y="47000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0487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7512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5373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4681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33" name="TextBox 32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 THEME_CARD_GRID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テーマカード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0195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487168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3.4x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67380" y="2487168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3404540" y="2487168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3477692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4540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4540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04540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+22%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095848" y="2487168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6233008" y="2487168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6160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3008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3008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3008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-41%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924315" y="2487168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9061475" y="2487168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627" y="2514600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61475" y="2944368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61475" y="3511296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61475" y="5276088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92%</a:t>
            </a:r>
            <a:endParaRPr lang="en-US" sz="2600" dirty="0"/>
          </a:p>
        </p:txBody>
      </p:sp>
      <p:sp>
        <p:nvSpPr>
          <p:cNvPr id="34" name="TextBox 33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 RECOMMENDATION_PILLARS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提言の柱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103120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2267712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871216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3383280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4023360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8322" y="2103120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8322" y="2267712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18" name="Text 16"/>
          <p:cNvSpPr/>
          <p:nvPr/>
        </p:nvSpPr>
        <p:spPr>
          <a:xfrm>
            <a:off x="440832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08322" y="2871216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08322" y="3383280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8322" y="4023360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40573" y="2103120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0573" y="2267712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</p:sp>
      <p:sp>
        <p:nvSpPr>
          <p:cNvPr id="24" name="Text 22"/>
          <p:cNvSpPr/>
          <p:nvPr/>
        </p:nvSpPr>
        <p:spPr>
          <a:xfrm>
            <a:off x="8240573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0573" y="2871216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0573" y="3383280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0573" y="4023360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 NUMBERED_IMPERATIVES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番号つき打ち手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3337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指標名、単位、YYYY〜YYYY年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76072" y="2985516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7134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857134" y="2985516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7134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57134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196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38196" y="2985516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196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38196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9259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7419259" y="2985516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9259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19259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00321" y="2418588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700321" y="2985516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00321" y="3095244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00321" y="3698748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 SCR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Situation・Complication・Resolution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2304288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468880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3383280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" y="4937760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576072" y="5074920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3082" y="1920240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93082" y="2304288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3082" y="2468880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93082" y="3383280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93082" y="4937760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4393082" y="5074920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0093" y="1920240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10093" y="2304288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0093" y="2468880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0093" y="3383280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10093" y="4937760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8210093" y="5074920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注：前提や注記を記載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 ISSUE_TO_SOLUTION_MAP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課題と打ち手の対応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52828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" y="2418588"/>
            <a:ext cx="5108296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7328" y="2052828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07328" y="2418588"/>
            <a:ext cx="5108296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702052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7328" y="2702052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7328" y="3104388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643884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07328" y="3643884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76072" y="3753612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7328" y="3753612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4155948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4695444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507328" y="4695444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76072" y="4805172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4805172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07328" y="5207508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86120" y="4123944"/>
            <a:ext cx="219456" cy="201168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28" name="TextBox 27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 ISSUE_CAUSE_SOLUTION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課題→原因→解決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514600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2898648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063240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3749040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35298" y="3794760"/>
            <a:ext cx="292608" cy="201168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5" name="Text 13"/>
          <p:cNvSpPr/>
          <p:nvPr/>
        </p:nvSpPr>
        <p:spPr>
          <a:xfrm>
            <a:off x="4255922" y="2514600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5922" y="2898648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5922" y="3063240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5922" y="3749040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15149" y="3794760"/>
            <a:ext cx="292608" cy="201168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20" name="Text 18"/>
          <p:cNvSpPr/>
          <p:nvPr/>
        </p:nvSpPr>
        <p:spPr>
          <a:xfrm>
            <a:off x="7935773" y="2514600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5773" y="2898648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5773" y="3063240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35773" y="3749040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 ISSUE_TREE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イシューツリー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584448"/>
            <a:ext cx="2286000" cy="100584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675888"/>
            <a:ext cx="1920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分解したいイシュー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6207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2703576"/>
            <a:ext cx="0" cy="2767584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27035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2429256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484120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27035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415540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41554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246376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65392" y="299161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282244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論点1-2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8211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3813048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25" name="Text 23"/>
          <p:cNvSpPr/>
          <p:nvPr/>
        </p:nvSpPr>
        <p:spPr>
          <a:xfrm>
            <a:off x="3639312" y="3867912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3799332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79933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363016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65392" y="437540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420624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論点2-2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82112" y="54711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02152" y="5196840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5251704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サブイシュー3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5352" y="54711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5392" y="5183124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518312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501396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65392" y="575919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5590032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論点3-2</a:t>
            </a:r>
            <a:endParaRPr lang="en-US" sz="1150" dirty="0"/>
          </a:p>
        </p:txBody>
      </p:sp>
      <p:sp>
        <p:nvSpPr>
          <p:cNvPr id="41" name="TextBox 40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 CURRENT_TARGET_STATE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現状と目指す姿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" y="2391156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2738628"/>
            <a:ext cx="4559656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884932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3415284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1648" y="2391156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1648" y="2738628"/>
            <a:ext cx="4559656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1648" y="2884932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81648" y="3415284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39816" y="3525012"/>
            <a:ext cx="512064" cy="512064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9" name="Shape 17"/>
          <p:cNvSpPr/>
          <p:nvPr/>
        </p:nvSpPr>
        <p:spPr>
          <a:xfrm rot="5400000">
            <a:off x="6013552" y="3698748"/>
            <a:ext cx="173736" cy="1645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0" name="TextBox 19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 CALC_FLOW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計算ロジックの流れ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指標名、単位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4" name="Text 12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17" name="Text 15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012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0" name="Text 18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0418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51122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9976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9762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976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29" name="Text 27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6381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787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74813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423453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23453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38" name="Text 36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1161" y="4793381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0" name="Text 38"/>
          <p:cNvSpPr/>
          <p:nvPr/>
        </p:nvSpPr>
        <p:spPr>
          <a:xfrm>
            <a:off x="8423453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42" name="Text 40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45218" y="4164659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4" name="Text 42"/>
          <p:cNvSpPr/>
          <p:nvPr/>
        </p:nvSpPr>
        <p:spPr>
          <a:xfrm>
            <a:off x="9487510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46" name="Text 44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809275" y="2743200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48" name="Text 46"/>
          <p:cNvSpPr/>
          <p:nvPr/>
        </p:nvSpPr>
        <p:spPr>
          <a:xfrm>
            <a:off x="1055156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" y="6071616"/>
            <a:ext cx="182880" cy="182880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21992" y="6071616"/>
            <a:ext cx="182880" cy="18288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52" name="Text 50"/>
          <p:cNvSpPr/>
          <p:nvPr/>
        </p:nvSpPr>
        <p:spPr>
          <a:xfrm>
            <a:off x="247802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 PROCESS_FLOW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プロセスの段階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63804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78760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35960" y="263804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5960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5960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5960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8648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95848" y="263804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5848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48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5848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98535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55735" y="263804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5735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55735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55735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9" name="TextBox 28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 CYCLE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循環サイクル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55368" y="2377440"/>
            <a:ext cx="7680960" cy="3200400"/>
          </a:xfrm>
          <a:prstGeom prst="ellipse">
            <a:avLst/>
          </a:prstGeom>
          <a:ln w="12700">
            <a:solidFill>
              <a:srgbClr val="E2DCD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rot="2160000">
            <a:off x="7330830" y="3083555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2" name="Shape 10"/>
          <p:cNvSpPr/>
          <p:nvPr/>
        </p:nvSpPr>
        <p:spPr>
          <a:xfrm rot="6480000">
            <a:off x="8195814" y="4192783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3" name="Shape 11"/>
          <p:cNvSpPr/>
          <p:nvPr/>
        </p:nvSpPr>
        <p:spPr>
          <a:xfrm rot="10800000">
            <a:off x="5931256" y="4878324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4" name="Shape 12"/>
          <p:cNvSpPr/>
          <p:nvPr/>
        </p:nvSpPr>
        <p:spPr>
          <a:xfrm rot="15120000">
            <a:off x="3666697" y="4192783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5" name="Shape 13"/>
          <p:cNvSpPr/>
          <p:nvPr/>
        </p:nvSpPr>
        <p:spPr>
          <a:xfrm rot="19440000">
            <a:off x="4531682" y="3083555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</p:sp>
      <p:sp>
        <p:nvSpPr>
          <p:cNvPr id="16" name="Shape 14"/>
          <p:cNvSpPr/>
          <p:nvPr/>
        </p:nvSpPr>
        <p:spPr>
          <a:xfrm>
            <a:off x="5867248" y="1810512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7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7128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7128" y="2761488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19761" y="2916223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19761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59641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59641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4625" y="4705301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4625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64505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64505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09870" y="4705301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9870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49750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49750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14734" y="2916223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14734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54614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54614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 CHEVRON_RAIL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矢羽の段階（全体像の見出し）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331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398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05830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17" name="Text 15"/>
          <p:cNvSpPr/>
          <p:nvPr/>
        </p:nvSpPr>
        <p:spPr>
          <a:xfrm>
            <a:off x="305830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122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122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9189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26621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2" name="Text 20"/>
          <p:cNvSpPr/>
          <p:nvPr/>
        </p:nvSpPr>
        <p:spPr>
          <a:xfrm>
            <a:off x="526621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913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913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9803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4123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27" name="Text 25"/>
          <p:cNvSpPr/>
          <p:nvPr/>
        </p:nvSpPr>
        <p:spPr>
          <a:xfrm>
            <a:off x="747412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7704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704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07713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682033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968203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8495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8495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 CHEVRON_VALUE_CHAIN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バリューチェーン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2185416"/>
            <a:ext cx="1733833" cy="411480"/>
          </a:xfrm>
          <a:prstGeom prst="homePlate">
            <a:avLst/>
          </a:prstGeom>
          <a:solidFill>
            <a:srgbClr val="32201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7025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14" name="Text 12"/>
          <p:cNvSpPr/>
          <p:nvPr/>
        </p:nvSpPr>
        <p:spPr>
          <a:xfrm>
            <a:off x="2236753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7978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16" name="Text 14"/>
          <p:cNvSpPr/>
          <p:nvPr/>
        </p:nvSpPr>
        <p:spPr>
          <a:xfrm>
            <a:off x="3787706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28931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18" name="Text 16"/>
          <p:cNvSpPr/>
          <p:nvPr/>
        </p:nvSpPr>
        <p:spPr>
          <a:xfrm>
            <a:off x="5338659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79884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20" name="Text 18"/>
          <p:cNvSpPr/>
          <p:nvPr/>
        </p:nvSpPr>
        <p:spPr>
          <a:xfrm>
            <a:off x="6889612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30837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22" name="Text 20"/>
          <p:cNvSpPr/>
          <p:nvPr/>
        </p:nvSpPr>
        <p:spPr>
          <a:xfrm>
            <a:off x="8440565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81790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</p:sp>
      <p:sp>
        <p:nvSpPr>
          <p:cNvPr id="24" name="Text 22"/>
          <p:cNvSpPr/>
          <p:nvPr/>
        </p:nvSpPr>
        <p:spPr>
          <a:xfrm>
            <a:off x="9991518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5313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5041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6266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5994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47219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56947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98172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790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49125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853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00078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09806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" y="4041648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6072" y="4352544"/>
            <a:ext cx="1733833" cy="411480"/>
          </a:xfrm>
          <a:prstGeom prst="homePlate">
            <a:avLst/>
          </a:prstGeom>
          <a:solidFill>
            <a:srgbClr val="C5A68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27025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2" name="Text 40"/>
          <p:cNvSpPr/>
          <p:nvPr/>
        </p:nvSpPr>
        <p:spPr>
          <a:xfrm>
            <a:off x="2236753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77978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4" name="Text 42"/>
          <p:cNvSpPr/>
          <p:nvPr/>
        </p:nvSpPr>
        <p:spPr>
          <a:xfrm>
            <a:off x="3787706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28931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6" name="Text 44"/>
          <p:cNvSpPr/>
          <p:nvPr/>
        </p:nvSpPr>
        <p:spPr>
          <a:xfrm>
            <a:off x="5338659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79884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48" name="Text 46"/>
          <p:cNvSpPr/>
          <p:nvPr/>
        </p:nvSpPr>
        <p:spPr>
          <a:xfrm>
            <a:off x="6889612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30837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50" name="Text 48"/>
          <p:cNvSpPr/>
          <p:nvPr/>
        </p:nvSpPr>
        <p:spPr>
          <a:xfrm>
            <a:off x="8440565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81790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</p:sp>
      <p:sp>
        <p:nvSpPr>
          <p:cNvPr id="52" name="Text 50"/>
          <p:cNvSpPr/>
          <p:nvPr/>
        </p:nvSpPr>
        <p:spPr>
          <a:xfrm>
            <a:off x="9991518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436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45313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55041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96266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05994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47219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56947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98172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790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9125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58853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900078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09806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14</a:t>
            </a:r>
            <a:endParaRPr lang="en-US" sz="1000" dirty="0"/>
          </a:p>
        </p:txBody>
      </p:sp>
      <p:sp>
        <p:nvSpPr>
          <p:cNvPr id="66" name="TextBox 65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 DECISION_FORK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分岐と判断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94076"/>
            <a:ext cx="54864" cy="1280160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939796"/>
            <a:ext cx="376732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 1：検討すべき問いを記載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73752" y="2674620"/>
            <a:ext cx="0" cy="237744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2674620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8072" y="2162556"/>
            <a:ext cx="6467551" cy="102412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27228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76672" y="258318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293065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3863340"/>
            <a:ext cx="274320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3351276"/>
            <a:ext cx="6467551" cy="1024128"/>
          </a:xfrm>
          <a:prstGeom prst="rect">
            <a:avLst/>
          </a:prstGeom>
          <a:ln w="20320">
            <a:solidFill>
              <a:srgbClr val="5A39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346100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376672" y="377190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411937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5052060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4539996"/>
            <a:ext cx="6467551" cy="102412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464972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376672" y="496062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530809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ロードマップ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335960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5960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3976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63976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95848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3864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23864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855735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5735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3751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83751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20" dirty="0"/>
          </a:p>
        </p:txBody>
      </p:sp>
      <p:sp>
        <p:nvSpPr>
          <p:cNvPr id="25" name="TextBox 24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 GANTT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ガントチャート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297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82997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3626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952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278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9604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931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2573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558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0909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62361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2468880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11663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28" name="Text 26"/>
          <p:cNvSpPr/>
          <p:nvPr/>
        </p:nvSpPr>
        <p:spPr>
          <a:xfrm>
            <a:off x="3234423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18189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0" name="Text 28"/>
          <p:cNvSpPr/>
          <p:nvPr/>
        </p:nvSpPr>
        <p:spPr>
          <a:xfrm>
            <a:off x="4540949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77976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2" name="Text 30"/>
          <p:cNvSpPr/>
          <p:nvPr/>
        </p:nvSpPr>
        <p:spPr>
          <a:xfrm>
            <a:off x="6500736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37764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4" name="Text 32"/>
          <p:cNvSpPr/>
          <p:nvPr/>
        </p:nvSpPr>
        <p:spPr>
          <a:xfrm>
            <a:off x="8460524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197552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0312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ラベル19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2973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82997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36260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9522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278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6048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49310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02573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5583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9098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62361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3017520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6072" y="3017520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47672" y="3017520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13048" y="3144883"/>
            <a:ext cx="580111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52" name="Text 50"/>
          <p:cNvSpPr/>
          <p:nvPr/>
        </p:nvSpPr>
        <p:spPr>
          <a:xfrm>
            <a:off x="576072" y="3473414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6072" y="3473414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47672" y="3473414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66311" y="3600777"/>
            <a:ext cx="1233373" cy="201168"/>
          </a:xfrm>
          <a:prstGeom prst="rect">
            <a:avLst/>
          </a:prstGeom>
          <a:solidFill>
            <a:srgbClr val="C5A681"/>
          </a:solidFill>
          <a:ln/>
        </p:spPr>
      </p:sp>
      <p:sp>
        <p:nvSpPr>
          <p:cNvPr id="56" name="Text 54"/>
          <p:cNvSpPr/>
          <p:nvPr/>
        </p:nvSpPr>
        <p:spPr>
          <a:xfrm>
            <a:off x="576072" y="3929307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6072" y="3929307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47672" y="3929307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19573" y="4056670"/>
            <a:ext cx="580111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0" name="Text 58"/>
          <p:cNvSpPr/>
          <p:nvPr/>
        </p:nvSpPr>
        <p:spPr>
          <a:xfrm>
            <a:off x="576072" y="4385201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6072" y="4385201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47672" y="4385201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772836" y="4512564"/>
            <a:ext cx="1233373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4" name="Text 62"/>
          <p:cNvSpPr/>
          <p:nvPr/>
        </p:nvSpPr>
        <p:spPr>
          <a:xfrm>
            <a:off x="576072" y="4841095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6072" y="4841095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4841095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ラベル29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426098" y="4968458"/>
            <a:ext cx="1233373" cy="201168"/>
          </a:xfrm>
          <a:prstGeom prst="rect">
            <a:avLst/>
          </a:prstGeom>
          <a:solidFill>
            <a:srgbClr val="5A3921"/>
          </a:solidFill>
          <a:ln/>
        </p:spPr>
      </p:sp>
      <p:sp>
        <p:nvSpPr>
          <p:cNvPr id="68" name="Text 66"/>
          <p:cNvSpPr/>
          <p:nvPr/>
        </p:nvSpPr>
        <p:spPr>
          <a:xfrm>
            <a:off x="576072" y="5296989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76072" y="5296989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47672" y="5296989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039149" y="5424351"/>
            <a:ext cx="1233373" cy="201168"/>
          </a:xfrm>
          <a:prstGeom prst="rect">
            <a:avLst/>
          </a:prstGeom>
          <a:solidFill>
            <a:srgbClr val="322014"/>
          </a:solidFill>
          <a:ln/>
        </p:spPr>
      </p:sp>
      <p:sp>
        <p:nvSpPr>
          <p:cNvPr id="72" name="Text 70"/>
          <p:cNvSpPr/>
          <p:nvPr/>
        </p:nvSpPr>
        <p:spPr>
          <a:xfrm>
            <a:off x="576072" y="5752882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76072" y="5752882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47672" y="5752882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ラベル33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345674" y="5880245"/>
            <a:ext cx="1233373" cy="201168"/>
          </a:xfrm>
          <a:prstGeom prst="rightArrow">
            <a:avLst/>
          </a:prstGeom>
          <a:solidFill>
            <a:srgbClr val="322014"/>
          </a:solidFill>
          <a:ln/>
        </p:spPr>
      </p:sp>
      <p:sp>
        <p:nvSpPr>
          <p:cNvPr id="76" name="TextBox 75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スライド型カタログ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 DECISION_PAGE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意思決定ページ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スライド型カタログ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89504"/>
            <a:ext cx="5212080" cy="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99816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推奨する意思決定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65576"/>
            <a:ext cx="53035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916936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916936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1568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630168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114800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34340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343400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828032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</p:sp>
      <p:sp>
        <p:nvSpPr>
          <p:cNvPr id="22" name="TextBox 21"/>
          <p:cNvSpPr txBox="1"/>
          <p:nvPr/>
        </p:nvSpPr>
        <p:spPr>
          <a:xfrm>
            <a:off x="10335463" y="6565392"/>
            <a:ext cx="8686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Consulting Slide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スライド型カタログ</dc:title>
  <dc:subject>Editable synthetic consulting deck generated from SlideSpec</dc:subject>
  <dc:creator>Consulting Slide Lab</dc:creator>
  <cp:lastModifiedBy>Consulting Slide Lab</cp:lastModifiedBy>
  <cp:revision>1</cp:revision>
  <dcterms:created xsi:type="dcterms:W3CDTF">2026-09-04T17:37:29Z</dcterms:created>
  <dcterms:modified xsi:type="dcterms:W3CDTF">2026-09-04T17:37:29Z</dcterms:modified>
</cp:coreProperties>
</file>